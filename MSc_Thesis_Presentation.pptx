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0" r:id="rId1"/>
  </p:sldMasterIdLst>
  <p:notesMasterIdLst>
    <p:notesMasterId r:id="rId27"/>
  </p:notesMasterIdLst>
  <p:sldIdLst>
    <p:sldId id="256" r:id="rId2"/>
    <p:sldId id="257" r:id="rId3"/>
    <p:sldId id="262" r:id="rId4"/>
    <p:sldId id="284" r:id="rId5"/>
    <p:sldId id="287" r:id="rId6"/>
    <p:sldId id="261" r:id="rId7"/>
    <p:sldId id="274" r:id="rId8"/>
    <p:sldId id="275" r:id="rId9"/>
    <p:sldId id="285" r:id="rId10"/>
    <p:sldId id="276" r:id="rId11"/>
    <p:sldId id="269" r:id="rId12"/>
    <p:sldId id="270" r:id="rId13"/>
    <p:sldId id="278" r:id="rId14"/>
    <p:sldId id="279" r:id="rId15"/>
    <p:sldId id="280" r:id="rId16"/>
    <p:sldId id="281" r:id="rId17"/>
    <p:sldId id="271" r:id="rId18"/>
    <p:sldId id="272" r:id="rId19"/>
    <p:sldId id="273" r:id="rId20"/>
    <p:sldId id="282" r:id="rId21"/>
    <p:sldId id="283" r:id="rId22"/>
    <p:sldId id="265" r:id="rId23"/>
    <p:sldId id="266" r:id="rId24"/>
    <p:sldId id="267" r:id="rId25"/>
    <p:sldId id="28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667D"/>
    <a:srgbClr val="2F99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5359"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C6332D-928A-46AF-AA1B-2DD0FC7DAEC4}" type="datetimeFigureOut">
              <a:rPr lang="el-GR" smtClean="0"/>
              <a:t>1/10/2025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1ACD32-AD9F-485F-9A31-0E4DEBB59D68}" type="slidenum">
              <a:rPr lang="el-GR" smtClean="0"/>
              <a:t>‹#›</a:t>
            </a:fld>
            <a:endParaRPr lang="el-GR"/>
          </a:p>
        </p:txBody>
      </p:sp>
    </p:spTree>
    <p:extLst>
      <p:ext uri="{BB962C8B-B14F-4D97-AF65-F5344CB8AC3E}">
        <p14:creationId xmlns:p14="http://schemas.microsoft.com/office/powerpoint/2010/main" val="1311840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fld id="{961ACD32-AD9F-485F-9A31-0E4DEBB59D68}" type="slidenum">
              <a:rPr lang="el-GR" smtClean="0"/>
              <a:t>1</a:t>
            </a:fld>
            <a:endParaRPr lang="el-GR"/>
          </a:p>
        </p:txBody>
      </p:sp>
    </p:spTree>
    <p:extLst>
      <p:ext uri="{BB962C8B-B14F-4D97-AF65-F5344CB8AC3E}">
        <p14:creationId xmlns:p14="http://schemas.microsoft.com/office/powerpoint/2010/main" val="1510607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fld id="{961ACD32-AD9F-485F-9A31-0E4DEBB59D68}" type="slidenum">
              <a:rPr lang="el-GR" smtClean="0"/>
              <a:t>2</a:t>
            </a:fld>
            <a:endParaRPr lang="el-GR"/>
          </a:p>
        </p:txBody>
      </p:sp>
    </p:spTree>
    <p:extLst>
      <p:ext uri="{BB962C8B-B14F-4D97-AF65-F5344CB8AC3E}">
        <p14:creationId xmlns:p14="http://schemas.microsoft.com/office/powerpoint/2010/main" val="1872407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5621-B021-E3AB-8299-64112F9EEDC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4D55B0F-F604-E824-2B82-D71B87A0C7B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1D98789-E079-2150-4008-ED624CA1B50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To obtain weather forecasts, a numerical weather model divides the Earth's atmosphere into smaller volumes (three-dimensional grid). For any grid cell, we assume that the atmosphere here is the same. For each grid point, relevant atmospheric parameters (such as temperature, humidity, wind speed, and pressure) are calculated at various altitudes and at fixed time intervals. </a:t>
            </a:r>
          </a:p>
          <a:p>
            <a:endParaRPr lang="en-US" sz="1200" b="0" i="0" kern="1200" dirty="0">
              <a:solidFill>
                <a:schemeClr val="tx1"/>
              </a:solidFill>
              <a:effectLst/>
              <a:latin typeface="+mn-lt"/>
              <a:ea typeface="+mn-ea"/>
              <a:cs typeface="+mn-cs"/>
            </a:endParaRPr>
          </a:p>
          <a:p>
            <a:r>
              <a:rPr lang="en-US" dirty="0"/>
              <a:t>For each cell, the model solves a set of “governing equations” based on physics. These equations ensure the conservation of momentum, mass, and energy, essentially describing how air moves, heats, and interacts with itself and the Earth. For example, if air flows into a grid cell, an equal amount must flow out elsewhere, and changes in density or pressure must be accounted for. The most challenging part is solving the momentum equations, known as the Navier-Stokes equations, which describe fluid motion. These equations are highly nonlinear and computationally intensive, requiring supercomputers to simulate even relatively short-term forecasts. </a:t>
            </a:r>
          </a:p>
          <a:p>
            <a:endParaRPr lang="en-US" dirty="0"/>
          </a:p>
          <a:p>
            <a:r>
              <a:rPr lang="en-US" dirty="0"/>
              <a:t>Beyond simulating the movement of the atmosphere, NWP models include numerous physical modules that handle other essential processes. The </a:t>
            </a:r>
            <a:r>
              <a:rPr lang="en-US" b="1" dirty="0"/>
              <a:t>microphysics module</a:t>
            </a:r>
            <a:r>
              <a:rPr lang="en-US" dirty="0"/>
              <a:t> calculates how air becomes saturated, forms clouds, and produces different types of precipitation. </a:t>
            </a:r>
            <a:r>
              <a:rPr lang="en-US" b="1" dirty="0"/>
              <a:t>Radiation modules</a:t>
            </a:r>
            <a:r>
              <a:rPr lang="en-US" dirty="0"/>
              <a:t> account for the absorption, reflection, and emission of shortwave (solar) and longwave (infrared) radiation, affecting temperature and atmospheric stability. </a:t>
            </a:r>
            <a:r>
              <a:rPr lang="en-US" b="1" dirty="0"/>
              <a:t>Surface interaction modules</a:t>
            </a:r>
            <a:r>
              <a:rPr lang="en-US" dirty="0"/>
              <a:t> simulate how the atmosphere exchanges heat, moisture, and momentum with the land, snow, and vegetation. Each of these modules communicates with the others to maintain a physically consistent forecast, ensuring that wind, temperature, moisture, and precipitation evolve in a realistic way across space and time.</a:t>
            </a:r>
            <a:endParaRPr lang="el-GR" dirty="0"/>
          </a:p>
        </p:txBody>
      </p:sp>
      <p:sp>
        <p:nvSpPr>
          <p:cNvPr id="4" name="Θέση αριθμού διαφάνειας 3">
            <a:extLst>
              <a:ext uri="{FF2B5EF4-FFF2-40B4-BE49-F238E27FC236}">
                <a16:creationId xmlns:a16="http://schemas.microsoft.com/office/drawing/2014/main" id="{C1E9AF4C-38E6-DAC2-1CC7-C398D669A473}"/>
              </a:ext>
            </a:extLst>
          </p:cNvPr>
          <p:cNvSpPr>
            <a:spLocks noGrp="1"/>
          </p:cNvSpPr>
          <p:nvPr>
            <p:ph type="sldNum" sz="quarter" idx="5"/>
          </p:nvPr>
        </p:nvSpPr>
        <p:spPr/>
        <p:txBody>
          <a:bodyPr/>
          <a:lstStyle/>
          <a:p>
            <a:fld id="{961ACD32-AD9F-485F-9A31-0E4DEBB59D68}" type="slidenum">
              <a:rPr lang="el-GR" smtClean="0"/>
              <a:t>3</a:t>
            </a:fld>
            <a:endParaRPr lang="el-GR"/>
          </a:p>
        </p:txBody>
      </p:sp>
    </p:spTree>
    <p:extLst>
      <p:ext uri="{BB962C8B-B14F-4D97-AF65-F5344CB8AC3E}">
        <p14:creationId xmlns:p14="http://schemas.microsoft.com/office/powerpoint/2010/main" val="3426210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AB7AD-AFAB-59F5-F9B0-5362C67B539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2B858CE-4735-F140-CC73-91F63326AF5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F2A180B-E207-87D4-0B8B-19409EE1DB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Time Range vs. Accuracy: </a:t>
            </a:r>
            <a:r>
              <a:rPr lang="en-US" dirty="0"/>
              <a:t>Longer lead times → lower accuracy | Chaos theory: small initial errors grow with time (atmospheric predictability limit ≈ 2 weeks).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Spatial Resolution vs. Forecast Range: </a:t>
            </a:r>
            <a:r>
              <a:rPr lang="en-US" dirty="0"/>
              <a:t>Higher resolution → shorter range | Finer grids require smaller time steps → far more computing power → usually run only for short-range forecasts.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Update Frequency vs. Cost: </a:t>
            </a:r>
            <a:r>
              <a:rPr lang="en-US" dirty="0"/>
              <a:t>More frequent model runs → higher computational expense | Each model cycle (data assimilation + forecast) consumes supercomputer time and energy.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Complex Physics vs. Speed: </a:t>
            </a:r>
            <a:r>
              <a:rPr lang="en-US" dirty="0"/>
              <a:t>More detailed physical schemes (cloud microphysics, aerosols, ocean coupling) → slower model runtime | Must simplify or parameterize processes to meet operational deadlines.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Deterministic vs. Probabilistic (Ensemble): </a:t>
            </a:r>
            <a:r>
              <a:rPr lang="en-US" dirty="0"/>
              <a:t>Ensemble forecasts give probabilities and uncertainty but require multiple runs | Single deterministic run is faster but offers no measure of confidence.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Global vs. Regional Focus: </a:t>
            </a:r>
            <a:r>
              <a:rPr lang="en-US" dirty="0"/>
              <a:t>Global models give boundary conditions but coarse detail | Regional models give local detail but depend on global model boundaries.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Observational Density vs. Real-time Delivery: </a:t>
            </a:r>
            <a:r>
              <a:rPr lang="en-US" dirty="0"/>
              <a:t>Assimilating every available observation can delay forecast issuance | Centers balance data volume with operational timeliness.</a:t>
            </a:r>
          </a:p>
          <a:p>
            <a:endParaRPr lang="el-GR" dirty="0"/>
          </a:p>
        </p:txBody>
      </p:sp>
      <p:sp>
        <p:nvSpPr>
          <p:cNvPr id="4" name="Θέση αριθμού διαφάνειας 3">
            <a:extLst>
              <a:ext uri="{FF2B5EF4-FFF2-40B4-BE49-F238E27FC236}">
                <a16:creationId xmlns:a16="http://schemas.microsoft.com/office/drawing/2014/main" id="{39A01390-6222-C8D1-9825-C9B1C2379C0A}"/>
              </a:ext>
            </a:extLst>
          </p:cNvPr>
          <p:cNvSpPr>
            <a:spLocks noGrp="1"/>
          </p:cNvSpPr>
          <p:nvPr>
            <p:ph type="sldNum" sz="quarter" idx="5"/>
          </p:nvPr>
        </p:nvSpPr>
        <p:spPr/>
        <p:txBody>
          <a:bodyPr/>
          <a:lstStyle/>
          <a:p>
            <a:fld id="{961ACD32-AD9F-485F-9A31-0E4DEBB59D68}" type="slidenum">
              <a:rPr lang="el-GR" smtClean="0"/>
              <a:t>4</a:t>
            </a:fld>
            <a:endParaRPr lang="el-GR"/>
          </a:p>
        </p:txBody>
      </p:sp>
    </p:spTree>
    <p:extLst>
      <p:ext uri="{BB962C8B-B14F-4D97-AF65-F5344CB8AC3E}">
        <p14:creationId xmlns:p14="http://schemas.microsoft.com/office/powerpoint/2010/main" val="1109528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BAA13-E935-13F0-76D0-97134F97B7B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DEB2975-5241-FB6C-10DF-837AE922CCE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CAC2A9B-CBEA-EAD9-594F-BD1BF4ECFC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l-GR" dirty="0"/>
          </a:p>
        </p:txBody>
      </p:sp>
      <p:sp>
        <p:nvSpPr>
          <p:cNvPr id="4" name="Θέση αριθμού διαφάνειας 3">
            <a:extLst>
              <a:ext uri="{FF2B5EF4-FFF2-40B4-BE49-F238E27FC236}">
                <a16:creationId xmlns:a16="http://schemas.microsoft.com/office/drawing/2014/main" id="{95C0EBA3-9CE2-732F-752A-D8D1B64B2174}"/>
              </a:ext>
            </a:extLst>
          </p:cNvPr>
          <p:cNvSpPr>
            <a:spLocks noGrp="1"/>
          </p:cNvSpPr>
          <p:nvPr>
            <p:ph type="sldNum" sz="quarter" idx="5"/>
          </p:nvPr>
        </p:nvSpPr>
        <p:spPr/>
        <p:txBody>
          <a:bodyPr/>
          <a:lstStyle/>
          <a:p>
            <a:fld id="{961ACD32-AD9F-485F-9A31-0E4DEBB59D68}" type="slidenum">
              <a:rPr lang="el-GR" smtClean="0"/>
              <a:t>5</a:t>
            </a:fld>
            <a:endParaRPr lang="el-GR"/>
          </a:p>
        </p:txBody>
      </p:sp>
    </p:spTree>
    <p:extLst>
      <p:ext uri="{BB962C8B-B14F-4D97-AF65-F5344CB8AC3E}">
        <p14:creationId xmlns:p14="http://schemas.microsoft.com/office/powerpoint/2010/main" val="3605806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08324-0623-BA80-B78C-5E57186950E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03FD267-BAA4-0980-F70E-BBB1D69EA55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66AB20F-F079-87EF-E5B5-85C8A53B80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l-GR" dirty="0"/>
          </a:p>
        </p:txBody>
      </p:sp>
      <p:sp>
        <p:nvSpPr>
          <p:cNvPr id="4" name="Θέση αριθμού διαφάνειας 3">
            <a:extLst>
              <a:ext uri="{FF2B5EF4-FFF2-40B4-BE49-F238E27FC236}">
                <a16:creationId xmlns:a16="http://schemas.microsoft.com/office/drawing/2014/main" id="{433E3B14-60AD-5FCF-BE24-4619105BD2AD}"/>
              </a:ext>
            </a:extLst>
          </p:cNvPr>
          <p:cNvSpPr>
            <a:spLocks noGrp="1"/>
          </p:cNvSpPr>
          <p:nvPr>
            <p:ph type="sldNum" sz="quarter" idx="5"/>
          </p:nvPr>
        </p:nvSpPr>
        <p:spPr/>
        <p:txBody>
          <a:bodyPr/>
          <a:lstStyle/>
          <a:p>
            <a:fld id="{961ACD32-AD9F-485F-9A31-0E4DEBB59D68}" type="slidenum">
              <a:rPr lang="el-GR" smtClean="0"/>
              <a:t>6</a:t>
            </a:fld>
            <a:endParaRPr lang="el-GR"/>
          </a:p>
        </p:txBody>
      </p:sp>
    </p:spTree>
    <p:extLst>
      <p:ext uri="{BB962C8B-B14F-4D97-AF65-F5344CB8AC3E}">
        <p14:creationId xmlns:p14="http://schemas.microsoft.com/office/powerpoint/2010/main" val="2968296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DCB09-280A-0C2F-183A-B360A6602DB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23B4243-0E9F-E00B-04A9-FFE6F247C36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434EF8B-2360-5123-2759-0CE8BCB078B5}"/>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5BB3F62F-2311-CEB7-EA87-BED265A28B72}"/>
              </a:ext>
            </a:extLst>
          </p:cNvPr>
          <p:cNvSpPr>
            <a:spLocks noGrp="1"/>
          </p:cNvSpPr>
          <p:nvPr>
            <p:ph type="sldNum" sz="quarter" idx="5"/>
          </p:nvPr>
        </p:nvSpPr>
        <p:spPr/>
        <p:txBody>
          <a:bodyPr/>
          <a:lstStyle/>
          <a:p>
            <a:fld id="{961ACD32-AD9F-485F-9A31-0E4DEBB59D68}" type="slidenum">
              <a:rPr lang="el-GR" smtClean="0"/>
              <a:t>7</a:t>
            </a:fld>
            <a:endParaRPr lang="el-GR"/>
          </a:p>
        </p:txBody>
      </p:sp>
    </p:spTree>
    <p:extLst>
      <p:ext uri="{BB962C8B-B14F-4D97-AF65-F5344CB8AC3E}">
        <p14:creationId xmlns:p14="http://schemas.microsoft.com/office/powerpoint/2010/main" val="1473320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730DA-46A9-88BD-620A-F5DD1CF8614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B49F65F-3F52-C004-B9D3-35921908807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A827B70-774C-0AF5-9A5F-826545688702}"/>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2C8B679B-F2D2-416B-E172-BCD0F04B306C}"/>
              </a:ext>
            </a:extLst>
          </p:cNvPr>
          <p:cNvSpPr>
            <a:spLocks noGrp="1"/>
          </p:cNvSpPr>
          <p:nvPr>
            <p:ph type="sldNum" sz="quarter" idx="5"/>
          </p:nvPr>
        </p:nvSpPr>
        <p:spPr/>
        <p:txBody>
          <a:bodyPr/>
          <a:lstStyle/>
          <a:p>
            <a:fld id="{961ACD32-AD9F-485F-9A31-0E4DEBB59D68}" type="slidenum">
              <a:rPr lang="el-GR" smtClean="0"/>
              <a:t>8</a:t>
            </a:fld>
            <a:endParaRPr lang="el-GR"/>
          </a:p>
        </p:txBody>
      </p:sp>
    </p:spTree>
    <p:extLst>
      <p:ext uri="{BB962C8B-B14F-4D97-AF65-F5344CB8AC3E}">
        <p14:creationId xmlns:p14="http://schemas.microsoft.com/office/powerpoint/2010/main" val="4277032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7D6A1-8290-1E6A-B97D-34D50D0B286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D5997E3-1C21-9125-F93F-A264111FB5D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C3A902B-670C-FD20-D785-CB9298EFB447}"/>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7C780EA7-D453-8DC1-9622-B2F2F39A2A50}"/>
              </a:ext>
            </a:extLst>
          </p:cNvPr>
          <p:cNvSpPr>
            <a:spLocks noGrp="1"/>
          </p:cNvSpPr>
          <p:nvPr>
            <p:ph type="sldNum" sz="quarter" idx="5"/>
          </p:nvPr>
        </p:nvSpPr>
        <p:spPr/>
        <p:txBody>
          <a:bodyPr/>
          <a:lstStyle/>
          <a:p>
            <a:fld id="{961ACD32-AD9F-485F-9A31-0E4DEBB59D68}" type="slidenum">
              <a:rPr lang="el-GR" smtClean="0"/>
              <a:t>9</a:t>
            </a:fld>
            <a:endParaRPr lang="el-GR"/>
          </a:p>
        </p:txBody>
      </p:sp>
    </p:spTree>
    <p:extLst>
      <p:ext uri="{BB962C8B-B14F-4D97-AF65-F5344CB8AC3E}">
        <p14:creationId xmlns:p14="http://schemas.microsoft.com/office/powerpoint/2010/main" val="363476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6D820-FFFB-46D4-7ABB-566CC9584A1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196EC3C-CF2D-1030-E7D0-8A9AAAF5236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CD0D5DA-7002-3B4C-8CC0-35B1997E903C}"/>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EE9D2F8E-AF16-4F90-EEAE-1ED94C495B22}"/>
              </a:ext>
            </a:extLst>
          </p:cNvPr>
          <p:cNvSpPr>
            <a:spLocks noGrp="1"/>
          </p:cNvSpPr>
          <p:nvPr>
            <p:ph type="sldNum" sz="quarter" idx="5"/>
          </p:nvPr>
        </p:nvSpPr>
        <p:spPr/>
        <p:txBody>
          <a:bodyPr/>
          <a:lstStyle/>
          <a:p>
            <a:fld id="{961ACD32-AD9F-485F-9A31-0E4DEBB59D68}" type="slidenum">
              <a:rPr lang="el-GR" smtClean="0"/>
              <a:t>10</a:t>
            </a:fld>
            <a:endParaRPr lang="el-GR"/>
          </a:p>
        </p:txBody>
      </p:sp>
    </p:spTree>
    <p:extLst>
      <p:ext uri="{BB962C8B-B14F-4D97-AF65-F5344CB8AC3E}">
        <p14:creationId xmlns:p14="http://schemas.microsoft.com/office/powerpoint/2010/main" val="739864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FE9A-5EF2-5DDD-D913-8EF6BA548B4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BF73911-7ED2-ABBC-4EF9-FAF7ACE43AC7}"/>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AE6ABE6-7223-2154-4338-D18F0D1E6969}"/>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6387B4AA-453A-CB7D-1E7C-C8DE92ADCB2A}"/>
              </a:ext>
            </a:extLst>
          </p:cNvPr>
          <p:cNvSpPr>
            <a:spLocks noGrp="1"/>
          </p:cNvSpPr>
          <p:nvPr>
            <p:ph type="sldNum" sz="quarter" idx="5"/>
          </p:nvPr>
        </p:nvSpPr>
        <p:spPr/>
        <p:txBody>
          <a:bodyPr/>
          <a:lstStyle/>
          <a:p>
            <a:fld id="{961ACD32-AD9F-485F-9A31-0E4DEBB59D68}" type="slidenum">
              <a:rPr lang="el-GR" smtClean="0"/>
              <a:t>11</a:t>
            </a:fld>
            <a:endParaRPr lang="el-GR"/>
          </a:p>
        </p:txBody>
      </p:sp>
    </p:spTree>
    <p:extLst>
      <p:ext uri="{BB962C8B-B14F-4D97-AF65-F5344CB8AC3E}">
        <p14:creationId xmlns:p14="http://schemas.microsoft.com/office/powerpoint/2010/main" val="3313596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D154-1C3D-9650-B1A8-1EB4CB9FFCF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7F9E54F-BFE6-90E6-B543-1A51CFF9665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1C4FD06-D50A-1881-5C99-B89130B3613F}"/>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CB3F08A4-6792-7FB6-3627-65795F063306}"/>
              </a:ext>
            </a:extLst>
          </p:cNvPr>
          <p:cNvSpPr>
            <a:spLocks noGrp="1"/>
          </p:cNvSpPr>
          <p:nvPr>
            <p:ph type="sldNum" sz="quarter" idx="5"/>
          </p:nvPr>
        </p:nvSpPr>
        <p:spPr/>
        <p:txBody>
          <a:bodyPr/>
          <a:lstStyle/>
          <a:p>
            <a:fld id="{961ACD32-AD9F-485F-9A31-0E4DEBB59D68}" type="slidenum">
              <a:rPr lang="el-GR" smtClean="0"/>
              <a:t>12</a:t>
            </a:fld>
            <a:endParaRPr lang="el-GR"/>
          </a:p>
        </p:txBody>
      </p:sp>
    </p:spTree>
    <p:extLst>
      <p:ext uri="{BB962C8B-B14F-4D97-AF65-F5344CB8AC3E}">
        <p14:creationId xmlns:p14="http://schemas.microsoft.com/office/powerpoint/2010/main" val="174192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36211-DB61-FC60-4237-E7F2A63C17B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A7F4B39-93EF-F2D8-840A-836109CD51A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FA9B6A0-79ED-CF7E-0BF1-1CF8189F9807}"/>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C9388B74-4D7B-99E3-DD5A-7B4B18F45B00}"/>
              </a:ext>
            </a:extLst>
          </p:cNvPr>
          <p:cNvSpPr>
            <a:spLocks noGrp="1"/>
          </p:cNvSpPr>
          <p:nvPr>
            <p:ph type="sldNum" sz="quarter" idx="5"/>
          </p:nvPr>
        </p:nvSpPr>
        <p:spPr/>
        <p:txBody>
          <a:bodyPr/>
          <a:lstStyle/>
          <a:p>
            <a:fld id="{961ACD32-AD9F-485F-9A31-0E4DEBB59D68}" type="slidenum">
              <a:rPr lang="el-GR" smtClean="0"/>
              <a:t>13</a:t>
            </a:fld>
            <a:endParaRPr lang="el-GR"/>
          </a:p>
        </p:txBody>
      </p:sp>
    </p:spTree>
    <p:extLst>
      <p:ext uri="{BB962C8B-B14F-4D97-AF65-F5344CB8AC3E}">
        <p14:creationId xmlns:p14="http://schemas.microsoft.com/office/powerpoint/2010/main" val="4083076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77DE-98A4-B70D-57E9-76A6371C8DF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A403271-C72A-D893-5553-6B38E571B93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7EA3E99-6DC9-2DDF-A717-4193B70E7949}"/>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0789BC88-6B36-94BF-84E2-39E9862BAB5F}"/>
              </a:ext>
            </a:extLst>
          </p:cNvPr>
          <p:cNvSpPr>
            <a:spLocks noGrp="1"/>
          </p:cNvSpPr>
          <p:nvPr>
            <p:ph type="sldNum" sz="quarter" idx="5"/>
          </p:nvPr>
        </p:nvSpPr>
        <p:spPr/>
        <p:txBody>
          <a:bodyPr/>
          <a:lstStyle/>
          <a:p>
            <a:fld id="{961ACD32-AD9F-485F-9A31-0E4DEBB59D68}" type="slidenum">
              <a:rPr lang="el-GR" smtClean="0"/>
              <a:t>14</a:t>
            </a:fld>
            <a:endParaRPr lang="el-GR"/>
          </a:p>
        </p:txBody>
      </p:sp>
    </p:spTree>
    <p:extLst>
      <p:ext uri="{BB962C8B-B14F-4D97-AF65-F5344CB8AC3E}">
        <p14:creationId xmlns:p14="http://schemas.microsoft.com/office/powerpoint/2010/main" val="1204785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ABFC5-73D8-8C97-8F22-4E15DC07DA6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91D9362-83F2-966F-EACE-F241B235F3B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DF792DC-0193-1F45-37CD-9F282959D4CD}"/>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2444F821-1DDB-8AAA-8C01-189847F6F99E}"/>
              </a:ext>
            </a:extLst>
          </p:cNvPr>
          <p:cNvSpPr>
            <a:spLocks noGrp="1"/>
          </p:cNvSpPr>
          <p:nvPr>
            <p:ph type="sldNum" sz="quarter" idx="5"/>
          </p:nvPr>
        </p:nvSpPr>
        <p:spPr/>
        <p:txBody>
          <a:bodyPr/>
          <a:lstStyle/>
          <a:p>
            <a:fld id="{961ACD32-AD9F-485F-9A31-0E4DEBB59D68}" type="slidenum">
              <a:rPr lang="el-GR" smtClean="0"/>
              <a:t>15</a:t>
            </a:fld>
            <a:endParaRPr lang="el-GR"/>
          </a:p>
        </p:txBody>
      </p:sp>
    </p:spTree>
    <p:extLst>
      <p:ext uri="{BB962C8B-B14F-4D97-AF65-F5344CB8AC3E}">
        <p14:creationId xmlns:p14="http://schemas.microsoft.com/office/powerpoint/2010/main" val="1385404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92F01-4DBC-D874-4547-C66D3997179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E69821D-B27C-5644-491B-70B8171C1D8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A7D404B-B3EF-FC19-0302-3FF3AEE2CFBA}"/>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344F951F-9E5C-2D7E-C7EA-C251F1BD080B}"/>
              </a:ext>
            </a:extLst>
          </p:cNvPr>
          <p:cNvSpPr>
            <a:spLocks noGrp="1"/>
          </p:cNvSpPr>
          <p:nvPr>
            <p:ph type="sldNum" sz="quarter" idx="5"/>
          </p:nvPr>
        </p:nvSpPr>
        <p:spPr/>
        <p:txBody>
          <a:bodyPr/>
          <a:lstStyle/>
          <a:p>
            <a:fld id="{961ACD32-AD9F-485F-9A31-0E4DEBB59D68}" type="slidenum">
              <a:rPr lang="el-GR" smtClean="0"/>
              <a:t>16</a:t>
            </a:fld>
            <a:endParaRPr lang="el-GR"/>
          </a:p>
        </p:txBody>
      </p:sp>
    </p:spTree>
    <p:extLst>
      <p:ext uri="{BB962C8B-B14F-4D97-AF65-F5344CB8AC3E}">
        <p14:creationId xmlns:p14="http://schemas.microsoft.com/office/powerpoint/2010/main" val="1027561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29660-F3A1-A4C5-A034-5F92641731B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A4887CA-9953-9AD5-6F15-A7371E57050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88E3C7D-A1F0-9CDF-E185-0246D353DF24}"/>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approach might be more appropriate if the spatial domain were limited to a smaller, more climatically homogeneous</a:t>
            </a:r>
          </a:p>
          <a:p>
            <a:r>
              <a:rPr lang="en-US" sz="1200" b="0" i="0" u="none" strike="noStrike" kern="1200" baseline="0" dirty="0">
                <a:solidFill>
                  <a:schemeClr val="tx1"/>
                </a:solidFill>
                <a:latin typeface="+mn-lt"/>
                <a:ea typeface="+mn-ea"/>
                <a:cs typeface="+mn-cs"/>
              </a:rPr>
              <a:t>area, where seasonal definitions are more relevant and consistent across the grid.</a:t>
            </a:r>
            <a:endParaRPr lang="el-GR" dirty="0"/>
          </a:p>
        </p:txBody>
      </p:sp>
      <p:sp>
        <p:nvSpPr>
          <p:cNvPr id="4" name="Θέση αριθμού διαφάνειας 3">
            <a:extLst>
              <a:ext uri="{FF2B5EF4-FFF2-40B4-BE49-F238E27FC236}">
                <a16:creationId xmlns:a16="http://schemas.microsoft.com/office/drawing/2014/main" id="{DC6AAFFD-0DE4-A5D3-A921-1DB388EFFA1F}"/>
              </a:ext>
            </a:extLst>
          </p:cNvPr>
          <p:cNvSpPr>
            <a:spLocks noGrp="1"/>
          </p:cNvSpPr>
          <p:nvPr>
            <p:ph type="sldNum" sz="quarter" idx="5"/>
          </p:nvPr>
        </p:nvSpPr>
        <p:spPr/>
        <p:txBody>
          <a:bodyPr/>
          <a:lstStyle/>
          <a:p>
            <a:fld id="{961ACD32-AD9F-485F-9A31-0E4DEBB59D68}" type="slidenum">
              <a:rPr lang="el-GR" smtClean="0"/>
              <a:t>17</a:t>
            </a:fld>
            <a:endParaRPr lang="el-GR"/>
          </a:p>
        </p:txBody>
      </p:sp>
    </p:spTree>
    <p:extLst>
      <p:ext uri="{BB962C8B-B14F-4D97-AF65-F5344CB8AC3E}">
        <p14:creationId xmlns:p14="http://schemas.microsoft.com/office/powerpoint/2010/main" val="153846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7FB4C-9713-2480-2D3A-F40671DC525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1743703-3392-0E34-B575-8C1E7F60FCE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5C663BCC-8232-B587-74B9-D3BAD576B53B}"/>
              </a:ext>
            </a:extLst>
          </p:cNvPr>
          <p:cNvSpPr>
            <a:spLocks noGrp="1"/>
          </p:cNvSpPr>
          <p:nvPr>
            <p:ph type="body" idx="1"/>
          </p:nvPr>
        </p:nvSpPr>
        <p:spPr/>
        <p:txBody>
          <a:bodyPr/>
          <a:lstStyle/>
          <a:p>
            <a:r>
              <a:rPr lang="en-US" dirty="0"/>
              <a:t>This is likely because it allows the model to better capture and adapt to the different physical processes and influencing factors present at each intermediate spatial scale.</a:t>
            </a:r>
            <a:endParaRPr lang="el-GR" dirty="0"/>
          </a:p>
        </p:txBody>
      </p:sp>
      <p:sp>
        <p:nvSpPr>
          <p:cNvPr id="4" name="Θέση αριθμού διαφάνειας 3">
            <a:extLst>
              <a:ext uri="{FF2B5EF4-FFF2-40B4-BE49-F238E27FC236}">
                <a16:creationId xmlns:a16="http://schemas.microsoft.com/office/drawing/2014/main" id="{A9FB0172-60EC-CA85-3F3E-4216BA9EF60B}"/>
              </a:ext>
            </a:extLst>
          </p:cNvPr>
          <p:cNvSpPr>
            <a:spLocks noGrp="1"/>
          </p:cNvSpPr>
          <p:nvPr>
            <p:ph type="sldNum" sz="quarter" idx="5"/>
          </p:nvPr>
        </p:nvSpPr>
        <p:spPr/>
        <p:txBody>
          <a:bodyPr/>
          <a:lstStyle/>
          <a:p>
            <a:fld id="{961ACD32-AD9F-485F-9A31-0E4DEBB59D68}" type="slidenum">
              <a:rPr lang="el-GR" smtClean="0"/>
              <a:t>18</a:t>
            </a:fld>
            <a:endParaRPr lang="el-GR"/>
          </a:p>
        </p:txBody>
      </p:sp>
    </p:spTree>
    <p:extLst>
      <p:ext uri="{BB962C8B-B14F-4D97-AF65-F5344CB8AC3E}">
        <p14:creationId xmlns:p14="http://schemas.microsoft.com/office/powerpoint/2010/main" val="40588573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50898-69A8-8FC9-CEFB-6C9E753B324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B8E3164-5FCC-A72D-FB43-F3F76FD3C6F7}"/>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194FDD97-0301-F799-5BA3-78643DDC407C}"/>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56E56020-6B85-DAB5-A4B9-6827E3D7B751}"/>
              </a:ext>
            </a:extLst>
          </p:cNvPr>
          <p:cNvSpPr>
            <a:spLocks noGrp="1"/>
          </p:cNvSpPr>
          <p:nvPr>
            <p:ph type="sldNum" sz="quarter" idx="5"/>
          </p:nvPr>
        </p:nvSpPr>
        <p:spPr/>
        <p:txBody>
          <a:bodyPr/>
          <a:lstStyle/>
          <a:p>
            <a:fld id="{961ACD32-AD9F-485F-9A31-0E4DEBB59D68}" type="slidenum">
              <a:rPr lang="el-GR" smtClean="0"/>
              <a:t>19</a:t>
            </a:fld>
            <a:endParaRPr lang="el-GR"/>
          </a:p>
        </p:txBody>
      </p:sp>
    </p:spTree>
    <p:extLst>
      <p:ext uri="{BB962C8B-B14F-4D97-AF65-F5344CB8AC3E}">
        <p14:creationId xmlns:p14="http://schemas.microsoft.com/office/powerpoint/2010/main" val="2204615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4A94-7D35-F80A-A402-36DD35E7033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C7DD477-A3F9-69F2-6A17-7A373A38A92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17642002-326B-70CD-4946-540AAA67EB03}"/>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BBD597C0-8B5C-9BD3-F609-81AA82061EDC}"/>
              </a:ext>
            </a:extLst>
          </p:cNvPr>
          <p:cNvSpPr>
            <a:spLocks noGrp="1"/>
          </p:cNvSpPr>
          <p:nvPr>
            <p:ph type="sldNum" sz="quarter" idx="5"/>
          </p:nvPr>
        </p:nvSpPr>
        <p:spPr/>
        <p:txBody>
          <a:bodyPr/>
          <a:lstStyle/>
          <a:p>
            <a:fld id="{961ACD32-AD9F-485F-9A31-0E4DEBB59D68}" type="slidenum">
              <a:rPr lang="el-GR" smtClean="0"/>
              <a:t>20</a:t>
            </a:fld>
            <a:endParaRPr lang="el-GR"/>
          </a:p>
        </p:txBody>
      </p:sp>
    </p:spTree>
    <p:extLst>
      <p:ext uri="{BB962C8B-B14F-4D97-AF65-F5344CB8AC3E}">
        <p14:creationId xmlns:p14="http://schemas.microsoft.com/office/powerpoint/2010/main" val="1134110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53FAA-72CA-5475-C933-658F29646E3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054FEF6-D38C-446A-8F51-CB04F1FFAD9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E30D55B-4784-F6B0-C432-C279513CB9B6}"/>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9DB09B37-E502-991D-DFEE-745C1AD53919}"/>
              </a:ext>
            </a:extLst>
          </p:cNvPr>
          <p:cNvSpPr>
            <a:spLocks noGrp="1"/>
          </p:cNvSpPr>
          <p:nvPr>
            <p:ph type="sldNum" sz="quarter" idx="5"/>
          </p:nvPr>
        </p:nvSpPr>
        <p:spPr/>
        <p:txBody>
          <a:bodyPr/>
          <a:lstStyle/>
          <a:p>
            <a:fld id="{961ACD32-AD9F-485F-9A31-0E4DEBB59D68}" type="slidenum">
              <a:rPr lang="el-GR" smtClean="0"/>
              <a:t>21</a:t>
            </a:fld>
            <a:endParaRPr lang="el-GR"/>
          </a:p>
        </p:txBody>
      </p:sp>
    </p:spTree>
    <p:extLst>
      <p:ext uri="{BB962C8B-B14F-4D97-AF65-F5344CB8AC3E}">
        <p14:creationId xmlns:p14="http://schemas.microsoft.com/office/powerpoint/2010/main" val="3776292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7E705-8C28-1FEC-4D88-11AD586F96E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90A8D61-0E33-FF79-05BB-1E9DE7227FC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5A6A217-4C6E-2608-F762-0126F835E705}"/>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BFE4AD8F-4AA9-8936-0503-27635E4C1C57}"/>
              </a:ext>
            </a:extLst>
          </p:cNvPr>
          <p:cNvSpPr>
            <a:spLocks noGrp="1"/>
          </p:cNvSpPr>
          <p:nvPr>
            <p:ph type="sldNum" sz="quarter" idx="5"/>
          </p:nvPr>
        </p:nvSpPr>
        <p:spPr/>
        <p:txBody>
          <a:bodyPr/>
          <a:lstStyle/>
          <a:p>
            <a:fld id="{961ACD32-AD9F-485F-9A31-0E4DEBB59D68}" type="slidenum">
              <a:rPr lang="el-GR" smtClean="0"/>
              <a:t>22</a:t>
            </a:fld>
            <a:endParaRPr lang="el-GR"/>
          </a:p>
        </p:txBody>
      </p:sp>
    </p:spTree>
    <p:extLst>
      <p:ext uri="{BB962C8B-B14F-4D97-AF65-F5344CB8AC3E}">
        <p14:creationId xmlns:p14="http://schemas.microsoft.com/office/powerpoint/2010/main" val="3287831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9D39-6F59-BFB0-2865-2643100714A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47D45DF-63A8-9617-6BA5-B266380E114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0E32D10-993F-BEE3-5BE7-EF3363EA2ADD}"/>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ACA53A29-7628-0D68-7E99-C4884376FAA5}"/>
              </a:ext>
            </a:extLst>
          </p:cNvPr>
          <p:cNvSpPr>
            <a:spLocks noGrp="1"/>
          </p:cNvSpPr>
          <p:nvPr>
            <p:ph type="sldNum" sz="quarter" idx="5"/>
          </p:nvPr>
        </p:nvSpPr>
        <p:spPr/>
        <p:txBody>
          <a:bodyPr/>
          <a:lstStyle/>
          <a:p>
            <a:fld id="{961ACD32-AD9F-485F-9A31-0E4DEBB59D68}" type="slidenum">
              <a:rPr lang="el-GR" smtClean="0"/>
              <a:t>23</a:t>
            </a:fld>
            <a:endParaRPr lang="el-GR"/>
          </a:p>
        </p:txBody>
      </p:sp>
    </p:spTree>
    <p:extLst>
      <p:ext uri="{BB962C8B-B14F-4D97-AF65-F5344CB8AC3E}">
        <p14:creationId xmlns:p14="http://schemas.microsoft.com/office/powerpoint/2010/main" val="37022381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5D437-2023-984F-AA84-CC65CEB08A9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5A47CA0-52F9-AD75-5FEB-C6DC708CC1E8}"/>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6BB084E-F7EE-644B-2CA6-4925AB920222}"/>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17D11F85-130A-03DC-0B4C-4B2CF33454A5}"/>
              </a:ext>
            </a:extLst>
          </p:cNvPr>
          <p:cNvSpPr>
            <a:spLocks noGrp="1"/>
          </p:cNvSpPr>
          <p:nvPr>
            <p:ph type="sldNum" sz="quarter" idx="5"/>
          </p:nvPr>
        </p:nvSpPr>
        <p:spPr/>
        <p:txBody>
          <a:bodyPr/>
          <a:lstStyle/>
          <a:p>
            <a:fld id="{961ACD32-AD9F-485F-9A31-0E4DEBB59D68}" type="slidenum">
              <a:rPr lang="el-GR" smtClean="0"/>
              <a:t>24</a:t>
            </a:fld>
            <a:endParaRPr lang="el-GR"/>
          </a:p>
        </p:txBody>
      </p:sp>
    </p:spTree>
    <p:extLst>
      <p:ext uri="{BB962C8B-B14F-4D97-AF65-F5344CB8AC3E}">
        <p14:creationId xmlns:p14="http://schemas.microsoft.com/office/powerpoint/2010/main" val="1208910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BFD5A-FCB7-4AD1-9C93-BB0B0DAAAE2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25B2017-93A2-FEAB-A6C6-285566000597}"/>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0740133-996F-8D54-C633-A2E8B34F4092}"/>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82EEAC9B-D3BE-0066-F00E-DF13B892C850}"/>
              </a:ext>
            </a:extLst>
          </p:cNvPr>
          <p:cNvSpPr>
            <a:spLocks noGrp="1"/>
          </p:cNvSpPr>
          <p:nvPr>
            <p:ph type="sldNum" sz="quarter" idx="5"/>
          </p:nvPr>
        </p:nvSpPr>
        <p:spPr/>
        <p:txBody>
          <a:bodyPr/>
          <a:lstStyle/>
          <a:p>
            <a:fld id="{961ACD32-AD9F-485F-9A31-0E4DEBB59D68}" type="slidenum">
              <a:rPr lang="el-GR" smtClean="0"/>
              <a:t>25</a:t>
            </a:fld>
            <a:endParaRPr lang="el-GR"/>
          </a:p>
        </p:txBody>
      </p:sp>
    </p:spTree>
    <p:extLst>
      <p:ext uri="{BB962C8B-B14F-4D97-AF65-F5344CB8AC3E}">
        <p14:creationId xmlns:p14="http://schemas.microsoft.com/office/powerpoint/2010/main" val="3965923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p:txBody>
          <a:bodyPr/>
          <a:lstStyle/>
          <a:p>
            <a:fld id="{27847AFE-BA66-4049-9CDE-15C09CA87E4C}" type="datetime1">
              <a:rPr lang="en-US" smtClean="0"/>
              <a:t>10/1/2025</a:t>
            </a:fld>
            <a:endParaRPr lang="en-US" dirty="0"/>
          </a:p>
        </p:txBody>
      </p:sp>
      <p:sp>
        <p:nvSpPr>
          <p:cNvPr id="5" name="Footer Placeholder 4"/>
          <p:cNvSpPr>
            <a:spLocks noGrp="1"/>
          </p:cNvSpPr>
          <p:nvPr>
            <p:ph type="ftr" sz="quarter" idx="11"/>
          </p:nvPr>
        </p:nvSpPr>
        <p:spPr/>
        <p:txBody>
          <a:bodyPr/>
          <a:lstStyle/>
          <a:p>
            <a:r>
              <a:rPr lang="en-US"/>
              <a:t>MSc Thesis defence, Antigoni Moira, 29.07.2025</a:t>
            </a:r>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4083419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F9FB5C10-4E9A-4437-903D-99BCE3308F9B}" type="datetime1">
              <a:rPr lang="en-US" smtClean="0"/>
              <a:t>10/1/2025</a:t>
            </a:fld>
            <a:endParaRPr lang="en-US" dirty="0"/>
          </a:p>
        </p:txBody>
      </p:sp>
      <p:sp>
        <p:nvSpPr>
          <p:cNvPr id="5" name="Footer Placeholder 4"/>
          <p:cNvSpPr>
            <a:spLocks noGrp="1"/>
          </p:cNvSpPr>
          <p:nvPr>
            <p:ph type="ftr" sz="quarter" idx="11"/>
          </p:nvPr>
        </p:nvSpPr>
        <p:spPr/>
        <p:txBody>
          <a:bodyPr/>
          <a:lstStyle/>
          <a:p>
            <a:r>
              <a:rPr lang="en-US"/>
              <a:t>MSc Thesis defence, Antigoni Moira, 29.07.2025</a:t>
            </a:r>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304371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9C53F690-0DB8-477F-A17D-CC0C515D7D49}" type="datetime1">
              <a:rPr lang="en-US" smtClean="0"/>
              <a:t>10/1/2025</a:t>
            </a:fld>
            <a:endParaRPr lang="en-US" dirty="0"/>
          </a:p>
        </p:txBody>
      </p:sp>
      <p:sp>
        <p:nvSpPr>
          <p:cNvPr id="5" name="Footer Placeholder 4"/>
          <p:cNvSpPr>
            <a:spLocks noGrp="1"/>
          </p:cNvSpPr>
          <p:nvPr>
            <p:ph type="ftr" sz="quarter" idx="11"/>
          </p:nvPr>
        </p:nvSpPr>
        <p:spPr/>
        <p:txBody>
          <a:bodyPr/>
          <a:lstStyle/>
          <a:p>
            <a:r>
              <a:rPr lang="en-US"/>
              <a:t>MSc Thesis defence, Antigoni Moira, 29.07.2025</a:t>
            </a:r>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3387394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Date Placeholder 4"/>
          <p:cNvSpPr>
            <a:spLocks noGrp="1"/>
          </p:cNvSpPr>
          <p:nvPr>
            <p:ph type="dt" sz="half" idx="10"/>
          </p:nvPr>
        </p:nvSpPr>
        <p:spPr/>
        <p:txBody>
          <a:bodyPr/>
          <a:lstStyle/>
          <a:p>
            <a:fld id="{54CC1D15-AC96-4E3A-B444-12ECF955353B}" type="datetime1">
              <a:rPr lang="en-US" smtClean="0"/>
              <a:t>10/1/2025</a:t>
            </a:fld>
            <a:endParaRPr lang="en-US" dirty="0"/>
          </a:p>
        </p:txBody>
      </p:sp>
      <p:sp>
        <p:nvSpPr>
          <p:cNvPr id="6" name="Footer Placeholder 5"/>
          <p:cNvSpPr>
            <a:spLocks noGrp="1"/>
          </p:cNvSpPr>
          <p:nvPr>
            <p:ph type="ftr" sz="quarter" idx="11"/>
          </p:nvPr>
        </p:nvSpPr>
        <p:spPr/>
        <p:txBody>
          <a:bodyPr/>
          <a:lstStyle/>
          <a:p>
            <a:r>
              <a:rPr lang="en-US"/>
              <a:t>MSc Thesis defence, Antigoni Moira, 29.07.2025</a:t>
            </a:r>
            <a:endParaRPr lang="en-US" dirty="0"/>
          </a:p>
        </p:txBody>
      </p:sp>
      <p:sp>
        <p:nvSpPr>
          <p:cNvPr id="7" name="Slide Number Placeholder 6"/>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264667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Content Placeholder 5"/>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6"/>
          <p:cNvSpPr>
            <a:spLocks noGrp="1"/>
          </p:cNvSpPr>
          <p:nvPr>
            <p:ph type="dt" sz="half" idx="10"/>
          </p:nvPr>
        </p:nvSpPr>
        <p:spPr/>
        <p:txBody>
          <a:bodyPr/>
          <a:lstStyle/>
          <a:p>
            <a:fld id="{21A0A697-D625-49B8-838E-9147941E4DAD}" type="datetime1">
              <a:rPr lang="en-US" smtClean="0"/>
              <a:t>10/1/2025</a:t>
            </a:fld>
            <a:endParaRPr lang="en-US" dirty="0"/>
          </a:p>
        </p:txBody>
      </p:sp>
      <p:sp>
        <p:nvSpPr>
          <p:cNvPr id="8" name="Footer Placeholder 7"/>
          <p:cNvSpPr>
            <a:spLocks noGrp="1"/>
          </p:cNvSpPr>
          <p:nvPr>
            <p:ph type="ftr" sz="quarter" idx="11"/>
          </p:nvPr>
        </p:nvSpPr>
        <p:spPr/>
        <p:txBody>
          <a:bodyPr/>
          <a:lstStyle/>
          <a:p>
            <a:r>
              <a:rPr lang="en-US"/>
              <a:t>MSc Thesis defence, Antigoni Moira, 29.07.2025</a:t>
            </a:r>
            <a:endParaRPr lang="en-US" dirty="0"/>
          </a:p>
        </p:txBody>
      </p:sp>
      <p:sp>
        <p:nvSpPr>
          <p:cNvPr id="9" name="Slide Number Placeholder 8"/>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3046495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Date Placeholder 2"/>
          <p:cNvSpPr>
            <a:spLocks noGrp="1"/>
          </p:cNvSpPr>
          <p:nvPr>
            <p:ph type="dt" sz="half" idx="10"/>
          </p:nvPr>
        </p:nvSpPr>
        <p:spPr/>
        <p:txBody>
          <a:bodyPr/>
          <a:lstStyle/>
          <a:p>
            <a:fld id="{9B142624-E082-445B-BFF8-1E199EA12E20}" type="datetime1">
              <a:rPr lang="en-US" smtClean="0"/>
              <a:t>10/1/2025</a:t>
            </a:fld>
            <a:endParaRPr lang="en-US" dirty="0"/>
          </a:p>
        </p:txBody>
      </p:sp>
      <p:sp>
        <p:nvSpPr>
          <p:cNvPr id="4" name="Footer Placeholder 3"/>
          <p:cNvSpPr>
            <a:spLocks noGrp="1"/>
          </p:cNvSpPr>
          <p:nvPr>
            <p:ph type="ftr" sz="quarter" idx="11"/>
          </p:nvPr>
        </p:nvSpPr>
        <p:spPr/>
        <p:txBody>
          <a:bodyPr/>
          <a:lstStyle/>
          <a:p>
            <a:r>
              <a:rPr lang="en-US"/>
              <a:t>MSc Thesis defence, Antigoni Moira, 29.07.2025</a:t>
            </a:r>
            <a:endParaRPr lang="en-US" dirty="0"/>
          </a:p>
        </p:txBody>
      </p:sp>
      <p:sp>
        <p:nvSpPr>
          <p:cNvPr id="5" name="Slide Number Placeholder 4"/>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3365575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F75C1-333C-4A8B-9209-26A1BD6658E9}" type="datetime1">
              <a:rPr lang="en-US" smtClean="0"/>
              <a:t>10/1/2025</a:t>
            </a:fld>
            <a:endParaRPr lang="en-US" dirty="0"/>
          </a:p>
        </p:txBody>
      </p:sp>
      <p:sp>
        <p:nvSpPr>
          <p:cNvPr id="3" name="Footer Placeholder 2"/>
          <p:cNvSpPr>
            <a:spLocks noGrp="1"/>
          </p:cNvSpPr>
          <p:nvPr>
            <p:ph type="ftr" sz="quarter" idx="11"/>
          </p:nvPr>
        </p:nvSpPr>
        <p:spPr/>
        <p:txBody>
          <a:bodyPr/>
          <a:lstStyle/>
          <a:p>
            <a:r>
              <a:rPr lang="en-US"/>
              <a:t>MSc Thesis defence, Antigoni Moira, 29.07.2025</a:t>
            </a:r>
            <a:endParaRPr lang="en-US" dirty="0"/>
          </a:p>
        </p:txBody>
      </p:sp>
      <p:sp>
        <p:nvSpPr>
          <p:cNvPr id="4" name="Slide Number Placeholder 3"/>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2755300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4FEDDA7F-B5DE-49B4-A7C8-6B15590153C0}" type="datetime1">
              <a:rPr lang="en-US" smtClean="0"/>
              <a:t>10/1/2025</a:t>
            </a:fld>
            <a:endParaRPr lang="en-US" dirty="0"/>
          </a:p>
        </p:txBody>
      </p:sp>
      <p:sp>
        <p:nvSpPr>
          <p:cNvPr id="6" name="Footer Placeholder 5"/>
          <p:cNvSpPr>
            <a:spLocks noGrp="1"/>
          </p:cNvSpPr>
          <p:nvPr>
            <p:ph type="ftr" sz="quarter" idx="11"/>
          </p:nvPr>
        </p:nvSpPr>
        <p:spPr/>
        <p:txBody>
          <a:bodyPr/>
          <a:lstStyle/>
          <a:p>
            <a:r>
              <a:rPr lang="en-US"/>
              <a:t>MSc Thesis defence, Antigoni Moira, 29.07.2025</a:t>
            </a:r>
            <a:endParaRPr lang="en-US" dirty="0"/>
          </a:p>
        </p:txBody>
      </p:sp>
      <p:sp>
        <p:nvSpPr>
          <p:cNvPr id="7" name="Slide Number Placeholder 6"/>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3717203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FB8EE7A8-540D-44FA-BE1F-D077205F2201}" type="datetime1">
              <a:rPr lang="en-US" smtClean="0"/>
              <a:t>10/1/2025</a:t>
            </a:fld>
            <a:endParaRPr lang="en-US" dirty="0"/>
          </a:p>
        </p:txBody>
      </p:sp>
      <p:sp>
        <p:nvSpPr>
          <p:cNvPr id="6" name="Footer Placeholder 5"/>
          <p:cNvSpPr>
            <a:spLocks noGrp="1"/>
          </p:cNvSpPr>
          <p:nvPr>
            <p:ph type="ftr" sz="quarter" idx="11"/>
          </p:nvPr>
        </p:nvSpPr>
        <p:spPr/>
        <p:txBody>
          <a:bodyPr/>
          <a:lstStyle/>
          <a:p>
            <a:r>
              <a:rPr lang="en-US"/>
              <a:t>MSc Thesis defence, Antigoni Moira, 29.07.2025</a:t>
            </a:r>
            <a:endParaRPr lang="en-US" dirty="0"/>
          </a:p>
        </p:txBody>
      </p:sp>
      <p:sp>
        <p:nvSpPr>
          <p:cNvPr id="7" name="Slide Number Placeholder 6"/>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377659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A73A2C50-C12D-4256-961C-CE0A55AB29A8}" type="datetime1">
              <a:rPr lang="en-US" smtClean="0"/>
              <a:t>10/1/2025</a:t>
            </a:fld>
            <a:endParaRPr lang="en-US" dirty="0"/>
          </a:p>
        </p:txBody>
      </p:sp>
      <p:sp>
        <p:nvSpPr>
          <p:cNvPr id="5" name="Footer Placeholder 4"/>
          <p:cNvSpPr>
            <a:spLocks noGrp="1"/>
          </p:cNvSpPr>
          <p:nvPr>
            <p:ph type="ftr" sz="quarter" idx="11"/>
          </p:nvPr>
        </p:nvSpPr>
        <p:spPr/>
        <p:txBody>
          <a:bodyPr/>
          <a:lstStyle/>
          <a:p>
            <a:r>
              <a:rPr lang="en-US"/>
              <a:t>MSc Thesis defence, Antigoni Moira, 29.07.2025</a:t>
            </a:r>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2137421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8AFAE73D-6423-46B6-8539-6DECE37BB991}" type="datetime1">
              <a:rPr lang="en-US" smtClean="0"/>
              <a:t>10/1/2025</a:t>
            </a:fld>
            <a:endParaRPr lang="en-US" dirty="0"/>
          </a:p>
        </p:txBody>
      </p:sp>
      <p:sp>
        <p:nvSpPr>
          <p:cNvPr id="5" name="Footer Placeholder 4"/>
          <p:cNvSpPr>
            <a:spLocks noGrp="1"/>
          </p:cNvSpPr>
          <p:nvPr>
            <p:ph type="ftr" sz="quarter" idx="11"/>
          </p:nvPr>
        </p:nvSpPr>
        <p:spPr/>
        <p:txBody>
          <a:bodyPr/>
          <a:lstStyle/>
          <a:p>
            <a:r>
              <a:rPr lang="en-US"/>
              <a:t>MSc Thesis defence, Antigoni Moira, 29.07.2025</a:t>
            </a:r>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633336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B0BF42-C818-491A-9B2D-58FD0F83B6BA}" type="datetime1">
              <a:rPr lang="en-US" smtClean="0"/>
              <a:t>10/1/2025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MSc Thesis defence, Antigoni Moira, 29.07.2025</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919080300"/>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hyperlink" Target="https://shorturl.at/ucUMU" TargetMode="External"/><Relationship Id="rId3" Type="http://schemas.openxmlformats.org/officeDocument/2006/relationships/image" Target="../media/image1.jpeg"/><Relationship Id="rId7" Type="http://schemas.openxmlformats.org/officeDocument/2006/relationships/hyperlink" Target="https://doi.org/10.24381/CDS.ADBB2D47" TargetMode="External"/><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hyperlink" Target="https://doi.org/10.1098/rsta.2008.0219" TargetMode="External"/><Relationship Id="rId5" Type="http://schemas.openxmlformats.org/officeDocument/2006/relationships/hyperlink" Target="https://doi.org/10.48550/ARXIV.2212.12794" TargetMode="External"/><Relationship Id="rId4" Type="http://schemas.openxmlformats.org/officeDocument/2006/relationships/hyperlink" Target="https://doi.org/10.1002/wcc.95" TargetMode="External"/><Relationship Id="rId9" Type="http://schemas.openxmlformats.org/officeDocument/2006/relationships/hyperlink" Target="https://github.com/AntigoniMoira/MSc_Thesis"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3" descr="Απόσπασμα Genetic concept">
            <a:extLst>
              <a:ext uri="{FF2B5EF4-FFF2-40B4-BE49-F238E27FC236}">
                <a16:creationId xmlns:a16="http://schemas.microsoft.com/office/drawing/2014/main" id="{41A1F0E1-B557-DB23-2080-B33C145107A5}"/>
              </a:ext>
            </a:extLst>
          </p:cNvPr>
          <p:cNvPicPr>
            <a:picLocks noChangeAspect="1"/>
          </p:cNvPicPr>
          <p:nvPr/>
        </p:nvPicPr>
        <p:blipFill>
          <a:blip r:embed="rId3"/>
          <a:srcRect t="228" r="-1" b="-1"/>
          <a:stretch>
            <a:fillRect/>
          </a:stretch>
        </p:blipFill>
        <p:spPr>
          <a:xfrm>
            <a:off x="5318308" y="10"/>
            <a:ext cx="6873692" cy="6857990"/>
          </a:xfrm>
          <a:custGeom>
            <a:avLst/>
            <a:gdLst/>
            <a:ahLst/>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close/>
              </a:path>
            </a:pathLst>
          </a:custGeom>
        </p:spPr>
      </p:pic>
      <p:sp>
        <p:nvSpPr>
          <p:cNvPr id="2" name="Τίτλος 1">
            <a:extLst>
              <a:ext uri="{FF2B5EF4-FFF2-40B4-BE49-F238E27FC236}">
                <a16:creationId xmlns:a16="http://schemas.microsoft.com/office/drawing/2014/main" id="{402F6F99-76C1-FAC0-FD5D-2CC0639352D8}"/>
              </a:ext>
            </a:extLst>
          </p:cNvPr>
          <p:cNvSpPr>
            <a:spLocks noGrp="1"/>
          </p:cNvSpPr>
          <p:nvPr>
            <p:ph type="ctrTitle"/>
          </p:nvPr>
        </p:nvSpPr>
        <p:spPr>
          <a:xfrm>
            <a:off x="388731" y="1864327"/>
            <a:ext cx="8734950" cy="1366553"/>
          </a:xfrm>
        </p:spPr>
        <p:txBody>
          <a:bodyPr anchor="t">
            <a:normAutofit/>
          </a:bodyPr>
          <a:lstStyle/>
          <a:p>
            <a:pPr algn="l">
              <a:lnSpc>
                <a:spcPct val="90000"/>
              </a:lnSpc>
            </a:pPr>
            <a:r>
              <a:rPr lang="en-US" sz="2800" b="1" dirty="0">
                <a:solidFill>
                  <a:srgbClr val="29667D"/>
                </a:solidFill>
                <a:latin typeface="Aptos" panose="020B0004020202020204" pitchFamily="34" charset="0"/>
              </a:rPr>
              <a:t>Use of Deep Learning methods and land cover/use data to improve the spatial resolution of Numerical Weather Prediction (NWP) simulations</a:t>
            </a:r>
            <a:endParaRPr lang="el-GR" sz="2800" b="1" dirty="0">
              <a:solidFill>
                <a:srgbClr val="29667D"/>
              </a:solidFill>
              <a:latin typeface="Aptos" panose="020B0004020202020204" pitchFamily="34" charset="0"/>
            </a:endParaRPr>
          </a:p>
        </p:txBody>
      </p:sp>
      <p:sp>
        <p:nvSpPr>
          <p:cNvPr id="3" name="Υπότιτλος 2">
            <a:extLst>
              <a:ext uri="{FF2B5EF4-FFF2-40B4-BE49-F238E27FC236}">
                <a16:creationId xmlns:a16="http://schemas.microsoft.com/office/drawing/2014/main" id="{76ECDDF5-C68E-28E0-305E-0024CECC0B42}"/>
              </a:ext>
            </a:extLst>
          </p:cNvPr>
          <p:cNvSpPr>
            <a:spLocks noGrp="1"/>
          </p:cNvSpPr>
          <p:nvPr>
            <p:ph type="subTitle" idx="1"/>
          </p:nvPr>
        </p:nvSpPr>
        <p:spPr>
          <a:xfrm>
            <a:off x="2593423" y="3382297"/>
            <a:ext cx="3027680" cy="1290320"/>
          </a:xfrm>
        </p:spPr>
        <p:txBody>
          <a:bodyPr anchor="b">
            <a:noAutofit/>
          </a:bodyPr>
          <a:lstStyle/>
          <a:p>
            <a:pPr algn="ctr"/>
            <a:endParaRPr lang="en-US" sz="2000" dirty="0">
              <a:latin typeface="Aptos" panose="020B0004020202020204" pitchFamily="34" charset="0"/>
            </a:endParaRPr>
          </a:p>
          <a:p>
            <a:pPr algn="ctr"/>
            <a:r>
              <a:rPr lang="en-US" dirty="0">
                <a:latin typeface="Aptos" panose="020B0004020202020204" pitchFamily="34" charset="0"/>
              </a:rPr>
              <a:t>MSc in Data Science</a:t>
            </a:r>
          </a:p>
          <a:p>
            <a:pPr algn="ctr"/>
            <a:r>
              <a:rPr lang="en-US" sz="2000" dirty="0">
                <a:latin typeface="Aptos" panose="020B0004020202020204" pitchFamily="34" charset="0"/>
              </a:rPr>
              <a:t>Thesis Presentation</a:t>
            </a:r>
          </a:p>
          <a:p>
            <a:pPr algn="ctr"/>
            <a:r>
              <a:rPr lang="en-US" sz="2000" dirty="0">
                <a:latin typeface="Aptos" panose="020B0004020202020204" pitchFamily="34" charset="0"/>
              </a:rPr>
              <a:t>1 October 2025</a:t>
            </a:r>
          </a:p>
        </p:txBody>
      </p:sp>
      <p:sp>
        <p:nvSpPr>
          <p:cNvPr id="5" name="TextBox 4">
            <a:extLst>
              <a:ext uri="{FF2B5EF4-FFF2-40B4-BE49-F238E27FC236}">
                <a16:creationId xmlns:a16="http://schemas.microsoft.com/office/drawing/2014/main" id="{578DE8A5-9198-9B6B-A7B7-5C5D016B6194}"/>
              </a:ext>
            </a:extLst>
          </p:cNvPr>
          <p:cNvSpPr txBox="1"/>
          <p:nvPr/>
        </p:nvSpPr>
        <p:spPr>
          <a:xfrm>
            <a:off x="284480" y="5567680"/>
            <a:ext cx="4409440" cy="923330"/>
          </a:xfrm>
          <a:prstGeom prst="rect">
            <a:avLst/>
          </a:prstGeom>
          <a:noFill/>
        </p:spPr>
        <p:txBody>
          <a:bodyPr wrap="square" rtlCol="0">
            <a:spAutoFit/>
          </a:bodyPr>
          <a:lstStyle/>
          <a:p>
            <a:r>
              <a:rPr lang="en-US" dirty="0">
                <a:latin typeface="Aptos" panose="020B0004020202020204" pitchFamily="34" charset="0"/>
              </a:rPr>
              <a:t>Student: Antigoni Moira</a:t>
            </a:r>
          </a:p>
          <a:p>
            <a:r>
              <a:rPr lang="en-US" dirty="0">
                <a:latin typeface="Aptos" panose="020B0004020202020204" pitchFamily="34" charset="0"/>
              </a:rPr>
              <a:t>Supervisor: Theodoros Giannakopoulos</a:t>
            </a:r>
          </a:p>
          <a:p>
            <a:r>
              <a:rPr lang="en-US" dirty="0">
                <a:latin typeface="Aptos" panose="020B0004020202020204" pitchFamily="34" charset="0"/>
              </a:rPr>
              <a:t>Co-supervisor: Stelios Karozis</a:t>
            </a:r>
          </a:p>
        </p:txBody>
      </p:sp>
      <p:pic>
        <p:nvPicPr>
          <p:cNvPr id="10" name="Εικόνα 9" descr="Εικόνα που περιέχει κείμενο, γραμματοσειρά, σχεδίαση&#10;&#10;Το περιεχόμενο που δημιουργείται από AI ενδέχεται να είναι εσφαλμένο.">
            <a:extLst>
              <a:ext uri="{FF2B5EF4-FFF2-40B4-BE49-F238E27FC236}">
                <a16:creationId xmlns:a16="http://schemas.microsoft.com/office/drawing/2014/main" id="{77BAE4C8-491A-4D8F-287B-6C7717C73E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71842"/>
            <a:ext cx="4444444" cy="990476"/>
          </a:xfrm>
          <a:prstGeom prst="rect">
            <a:avLst/>
          </a:prstGeom>
        </p:spPr>
      </p:pic>
      <p:pic>
        <p:nvPicPr>
          <p:cNvPr id="28" name="Εικόνα 27" descr="Εικόνα που περιέχει κείμενο, λογότυπο, έμβλημα, σύμβολο&#10;&#10;Το περιεχόμενο που δημιουργείται από AI ενδέχεται να είναι εσφαλμένο.">
            <a:extLst>
              <a:ext uri="{FF2B5EF4-FFF2-40B4-BE49-F238E27FC236}">
                <a16:creationId xmlns:a16="http://schemas.microsoft.com/office/drawing/2014/main" id="{82F5D3D5-4F6D-0068-2BDE-5D1A82BE1C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6960" y="271145"/>
            <a:ext cx="4239260" cy="1059815"/>
          </a:xfrm>
          <a:prstGeom prst="rect">
            <a:avLst/>
          </a:prstGeom>
        </p:spPr>
      </p:pic>
    </p:spTree>
    <p:extLst>
      <p:ext uri="{BB962C8B-B14F-4D97-AF65-F5344CB8AC3E}">
        <p14:creationId xmlns:p14="http://schemas.microsoft.com/office/powerpoint/2010/main" val="2029980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descr="Απόσπασμα Genetic concept">
            <a:extLst>
              <a:ext uri="{FF2B5EF4-FFF2-40B4-BE49-F238E27FC236}">
                <a16:creationId xmlns:a16="http://schemas.microsoft.com/office/drawing/2014/main" id="{00CA090F-B05C-D076-05F1-F1D3E8DD19A9}"/>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4" name="TextBox 3">
            <a:extLst>
              <a:ext uri="{FF2B5EF4-FFF2-40B4-BE49-F238E27FC236}">
                <a16:creationId xmlns:a16="http://schemas.microsoft.com/office/drawing/2014/main" id="{3B188D6F-DA40-21B1-D52A-2DC0FC2EF263}"/>
              </a:ext>
            </a:extLst>
          </p:cNvPr>
          <p:cNvSpPr txBox="1"/>
          <p:nvPr/>
        </p:nvSpPr>
        <p:spPr>
          <a:xfrm>
            <a:off x="914183" y="1558688"/>
            <a:ext cx="5825685" cy="4365298"/>
          </a:xfrm>
          <a:prstGeom prst="rect">
            <a:avLst/>
          </a:prstGeom>
          <a:noFill/>
        </p:spPr>
        <p:txBody>
          <a:bodyPr wrap="square" rtlCol="0">
            <a:spAutoFit/>
          </a:bodyPr>
          <a:lstStyle/>
          <a:p>
            <a:pPr marL="457200" indent="-457200">
              <a:spcBef>
                <a:spcPts val="700"/>
              </a:spcBef>
              <a:spcAft>
                <a:spcPts val="700"/>
              </a:spcAft>
              <a:buFont typeface="+mj-lt"/>
              <a:buAutoNum type="arabicPeriod"/>
            </a:pPr>
            <a:r>
              <a:rPr lang="en-US" sz="2300" dirty="0">
                <a:latin typeface="Aptos" panose="020B0004020202020204" pitchFamily="34" charset="0"/>
              </a:rPr>
              <a:t>Background</a:t>
            </a:r>
          </a:p>
          <a:p>
            <a:pPr marL="914400" lvl="1" indent="-457200">
              <a:spcBef>
                <a:spcPts val="700"/>
              </a:spcBef>
              <a:spcAft>
                <a:spcPts val="700"/>
              </a:spcAft>
              <a:buFont typeface="Arial" panose="020B0604020202020204" pitchFamily="34" charset="0"/>
              <a:buChar char="•"/>
            </a:pPr>
            <a:r>
              <a:rPr lang="en-US" sz="2100" dirty="0">
                <a:latin typeface="Aptos" panose="020B0004020202020204" pitchFamily="34" charset="0"/>
              </a:rPr>
              <a:t>Weather forecast models</a:t>
            </a:r>
          </a:p>
          <a:p>
            <a:pPr marL="914400" lvl="1" indent="-457200">
              <a:spcBef>
                <a:spcPts val="700"/>
              </a:spcBef>
              <a:spcAft>
                <a:spcPts val="700"/>
              </a:spcAft>
              <a:buFont typeface="Arial" panose="020B0604020202020204" pitchFamily="34" charset="0"/>
              <a:buChar char="•"/>
            </a:pPr>
            <a:r>
              <a:rPr lang="en-US" sz="2100" dirty="0">
                <a:latin typeface="Aptos" panose="020B0004020202020204" pitchFamily="34" charset="0"/>
              </a:rPr>
              <a:t>Weather forecast trade-offs</a:t>
            </a:r>
          </a:p>
          <a:p>
            <a:pPr marL="457200" indent="-457200">
              <a:spcBef>
                <a:spcPts val="700"/>
              </a:spcBef>
              <a:spcAft>
                <a:spcPts val="700"/>
              </a:spcAft>
              <a:buFont typeface="+mj-lt"/>
              <a:buAutoNum type="arabicPeriod"/>
            </a:pPr>
            <a:r>
              <a:rPr lang="en-US" sz="2300" dirty="0">
                <a:latin typeface="Aptos" panose="020B0004020202020204" pitchFamily="34" charset="0"/>
              </a:rPr>
              <a:t>Motivation / Problem statement</a:t>
            </a:r>
          </a:p>
          <a:p>
            <a:pPr marL="457200" indent="-457200">
              <a:spcBef>
                <a:spcPts val="700"/>
              </a:spcBef>
              <a:spcAft>
                <a:spcPts val="700"/>
              </a:spcAft>
              <a:buFont typeface="+mj-lt"/>
              <a:buAutoNum type="arabicPeriod"/>
            </a:pPr>
            <a:r>
              <a:rPr lang="en-US" sz="2300" dirty="0">
                <a:latin typeface="Aptos" panose="020B0004020202020204" pitchFamily="34" charset="0"/>
              </a:rPr>
              <a:t>Methodology </a:t>
            </a:r>
          </a:p>
          <a:p>
            <a:pPr marL="914400" lvl="1" indent="-457200">
              <a:spcBef>
                <a:spcPts val="700"/>
              </a:spcBef>
              <a:spcAft>
                <a:spcPts val="700"/>
              </a:spcAft>
              <a:buFont typeface="Arial" panose="020B0604020202020204" pitchFamily="34" charset="0"/>
              <a:buChar char="•"/>
            </a:pPr>
            <a:r>
              <a:rPr lang="en-US" sz="2100" dirty="0">
                <a:latin typeface="Aptos" panose="020B0004020202020204" pitchFamily="34" charset="0"/>
              </a:rPr>
              <a:t>Approach</a:t>
            </a:r>
          </a:p>
          <a:p>
            <a:pPr marL="914400" lvl="1" indent="-457200">
              <a:spcBef>
                <a:spcPts val="300"/>
              </a:spcBef>
              <a:spcAft>
                <a:spcPts val="300"/>
              </a:spcAft>
              <a:buFont typeface="Arial" panose="020B0604020202020204" pitchFamily="34" charset="0"/>
              <a:buChar char="•"/>
            </a:pPr>
            <a:r>
              <a:rPr lang="en-US" sz="2100" dirty="0">
                <a:latin typeface="Aptos" panose="020B0004020202020204" pitchFamily="34" charset="0"/>
              </a:rPr>
              <a:t>Dataset &amp; Data pre-processing</a:t>
            </a:r>
          </a:p>
          <a:p>
            <a:pPr marL="914400" lvl="1" indent="-457200">
              <a:spcBef>
                <a:spcPts val="300"/>
              </a:spcBef>
              <a:spcAft>
                <a:spcPts val="300"/>
              </a:spcAft>
              <a:buFont typeface="Arial" panose="020B0604020202020204" pitchFamily="34" charset="0"/>
              <a:buChar char="•"/>
            </a:pPr>
            <a:r>
              <a:rPr lang="en-US" sz="2100" dirty="0">
                <a:latin typeface="Aptos" panose="020B0004020202020204" pitchFamily="34" charset="0"/>
              </a:rPr>
              <a:t>Metrics</a:t>
            </a:r>
          </a:p>
          <a:p>
            <a:pPr marL="914400" lvl="1" indent="-457200">
              <a:spcBef>
                <a:spcPts val="300"/>
              </a:spcBef>
              <a:spcAft>
                <a:spcPts val="300"/>
              </a:spcAft>
              <a:buFont typeface="Arial" panose="020B0604020202020204" pitchFamily="34" charset="0"/>
              <a:buChar char="•"/>
            </a:pPr>
            <a:r>
              <a:rPr lang="en-US" sz="2100" dirty="0">
                <a:latin typeface="Aptos" panose="020B0004020202020204" pitchFamily="34" charset="0"/>
              </a:rPr>
              <a:t>Training &amp; validation strategy</a:t>
            </a:r>
            <a:endParaRPr lang="el-GR" sz="2300" dirty="0">
              <a:latin typeface="Aptos" panose="020B0004020202020204" pitchFamily="34" charset="0"/>
            </a:endParaRPr>
          </a:p>
        </p:txBody>
      </p:sp>
      <p:sp>
        <p:nvSpPr>
          <p:cNvPr id="11" name="Θέση αριθμού διαφάνειας 10">
            <a:extLst>
              <a:ext uri="{FF2B5EF4-FFF2-40B4-BE49-F238E27FC236}">
                <a16:creationId xmlns:a16="http://schemas.microsoft.com/office/drawing/2014/main" id="{F52FA164-C41C-DA55-ABEF-E8AA0E1D1182}"/>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2</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87D03DFF-9D50-EB6A-B16C-6FF314618035}"/>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F5DF45FE-F6A9-97AF-FEF8-7534D62FC2FC}"/>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C613C7F-B308-1E25-35CE-78B982EA2F2E}"/>
              </a:ext>
            </a:extLst>
          </p:cNvPr>
          <p:cNvSpPr txBox="1"/>
          <p:nvPr/>
        </p:nvSpPr>
        <p:spPr>
          <a:xfrm>
            <a:off x="1101212" y="609600"/>
            <a:ext cx="3755923" cy="584775"/>
          </a:xfrm>
          <a:prstGeom prst="rect">
            <a:avLst/>
          </a:prstGeom>
          <a:noFill/>
        </p:spPr>
        <p:txBody>
          <a:bodyPr wrap="square" rtlCol="0">
            <a:spAutoFit/>
          </a:bodyPr>
          <a:lstStyle/>
          <a:p>
            <a:r>
              <a:rPr lang="el-GR" sz="3200" b="1" dirty="0">
                <a:solidFill>
                  <a:srgbClr val="29667D"/>
                </a:solidFill>
                <a:latin typeface="Aptos" panose="020B0004020202020204" pitchFamily="34" charset="0"/>
              </a:rPr>
              <a:t>Contents</a:t>
            </a:r>
          </a:p>
        </p:txBody>
      </p:sp>
      <p:sp>
        <p:nvSpPr>
          <p:cNvPr id="16" name="TextBox 15">
            <a:extLst>
              <a:ext uri="{FF2B5EF4-FFF2-40B4-BE49-F238E27FC236}">
                <a16:creationId xmlns:a16="http://schemas.microsoft.com/office/drawing/2014/main" id="{D9C7EDC1-31DC-FA42-D392-B78F6A0004CF}"/>
              </a:ext>
            </a:extLst>
          </p:cNvPr>
          <p:cNvSpPr txBox="1"/>
          <p:nvPr/>
        </p:nvSpPr>
        <p:spPr>
          <a:xfrm>
            <a:off x="6409358" y="1655062"/>
            <a:ext cx="4928221" cy="4701287"/>
          </a:xfrm>
          <a:prstGeom prst="rect">
            <a:avLst/>
          </a:prstGeom>
          <a:noFill/>
        </p:spPr>
        <p:txBody>
          <a:bodyPr wrap="square" rtlCol="0">
            <a:spAutoFit/>
          </a:bodyPr>
          <a:lstStyle/>
          <a:p>
            <a:pPr marL="457200" indent="-457200">
              <a:spcBef>
                <a:spcPts val="300"/>
              </a:spcBef>
              <a:spcAft>
                <a:spcPts val="300"/>
              </a:spcAft>
              <a:buFont typeface="+mj-lt"/>
              <a:buAutoNum type="arabicPeriod" startAt="4"/>
            </a:pPr>
            <a:r>
              <a:rPr lang="en-US" sz="2300" dirty="0">
                <a:latin typeface="Aptos" panose="020B0004020202020204" pitchFamily="34" charset="0"/>
              </a:rPr>
              <a:t>Work strategy &amp; Results</a:t>
            </a:r>
          </a:p>
          <a:p>
            <a:pPr marL="800100" lvl="1" indent="-342900">
              <a:spcBef>
                <a:spcPts val="300"/>
              </a:spcBef>
              <a:spcAft>
                <a:spcPts val="300"/>
              </a:spcAft>
              <a:buFont typeface="Arial" panose="020B0604020202020204" pitchFamily="34" charset="0"/>
              <a:buChar char="•"/>
            </a:pPr>
            <a:r>
              <a:rPr lang="en-US" sz="2100" dirty="0">
                <a:latin typeface="Aptos" panose="020B0004020202020204" pitchFamily="34" charset="0"/>
              </a:rPr>
              <a:t>Baseline Selection</a:t>
            </a:r>
          </a:p>
          <a:p>
            <a:pPr marL="800100" lvl="1" indent="-342900">
              <a:spcBef>
                <a:spcPts val="300"/>
              </a:spcBef>
              <a:spcAft>
                <a:spcPts val="300"/>
              </a:spcAft>
              <a:buFont typeface="Arial" panose="020B0604020202020204" pitchFamily="34" charset="0"/>
              <a:buChar char="•"/>
            </a:pPr>
            <a:r>
              <a:rPr lang="en-US" sz="2100" dirty="0">
                <a:latin typeface="Aptos" panose="020B0004020202020204" pitchFamily="34" charset="0"/>
              </a:rPr>
              <a:t>DL Model Architecture Selection</a:t>
            </a:r>
          </a:p>
          <a:p>
            <a:pPr marL="800100" lvl="1" indent="-342900">
              <a:spcBef>
                <a:spcPts val="300"/>
              </a:spcBef>
              <a:spcAft>
                <a:spcPts val="300"/>
              </a:spcAft>
              <a:buFont typeface="Arial" panose="020B0604020202020204" pitchFamily="34" charset="0"/>
              <a:buChar char="•"/>
            </a:pPr>
            <a:r>
              <a:rPr lang="en-US" sz="2100" dirty="0">
                <a:latin typeface="Aptos" panose="020B0004020202020204" pitchFamily="34" charset="0"/>
              </a:rPr>
              <a:t>Seasonal vs Universal models</a:t>
            </a:r>
          </a:p>
          <a:p>
            <a:pPr marL="800100" lvl="1" indent="-342900">
              <a:spcBef>
                <a:spcPts val="300"/>
              </a:spcBef>
              <a:spcAft>
                <a:spcPts val="300"/>
              </a:spcAft>
              <a:buFont typeface="Arial" panose="020B0604020202020204" pitchFamily="34" charset="0"/>
              <a:buChar char="•"/>
            </a:pPr>
            <a:r>
              <a:rPr lang="en-US" sz="2100" dirty="0">
                <a:latin typeface="Aptos" panose="020B0004020202020204" pitchFamily="34" charset="0"/>
              </a:rPr>
              <a:t>1-step vs 2-steps downscaling</a:t>
            </a:r>
          </a:p>
          <a:p>
            <a:pPr marL="800100" lvl="1" indent="-342900">
              <a:spcBef>
                <a:spcPts val="300"/>
              </a:spcBef>
              <a:spcAft>
                <a:spcPts val="300"/>
              </a:spcAft>
              <a:buFont typeface="Arial" panose="020B0604020202020204" pitchFamily="34" charset="0"/>
              <a:buChar char="•"/>
            </a:pPr>
            <a:r>
              <a:rPr lang="en-US" sz="2100" dirty="0">
                <a:latin typeface="Aptos" panose="020B0004020202020204" pitchFamily="34" charset="0"/>
              </a:rPr>
              <a:t>DEM data incorporation methods</a:t>
            </a:r>
          </a:p>
          <a:p>
            <a:pPr marL="457200" indent="-457200">
              <a:lnSpc>
                <a:spcPct val="150000"/>
              </a:lnSpc>
              <a:spcBef>
                <a:spcPts val="300"/>
              </a:spcBef>
              <a:spcAft>
                <a:spcPts val="300"/>
              </a:spcAft>
              <a:buFont typeface="+mj-lt"/>
              <a:buAutoNum type="arabicPeriod" startAt="4"/>
            </a:pPr>
            <a:r>
              <a:rPr lang="en-US" sz="2300" dirty="0">
                <a:latin typeface="Aptos" panose="020B0004020202020204" pitchFamily="34" charset="0"/>
              </a:rPr>
              <a:t>Conclusions</a:t>
            </a:r>
          </a:p>
          <a:p>
            <a:pPr marL="457200" indent="-457200">
              <a:lnSpc>
                <a:spcPct val="150000"/>
              </a:lnSpc>
              <a:spcBef>
                <a:spcPts val="300"/>
              </a:spcBef>
              <a:spcAft>
                <a:spcPts val="300"/>
              </a:spcAft>
              <a:buFont typeface="+mj-lt"/>
              <a:buAutoNum type="arabicPeriod" startAt="4"/>
            </a:pPr>
            <a:r>
              <a:rPr lang="en-US" sz="2300" dirty="0">
                <a:latin typeface="Aptos" panose="020B0004020202020204" pitchFamily="34" charset="0"/>
              </a:rPr>
              <a:t>Future work</a:t>
            </a:r>
          </a:p>
          <a:p>
            <a:pPr marL="457200" indent="-457200">
              <a:lnSpc>
                <a:spcPct val="150000"/>
              </a:lnSpc>
              <a:spcBef>
                <a:spcPts val="300"/>
              </a:spcBef>
              <a:spcAft>
                <a:spcPts val="300"/>
              </a:spcAft>
              <a:buFont typeface="+mj-lt"/>
              <a:buAutoNum type="arabicPeriod" startAt="4"/>
            </a:pPr>
            <a:r>
              <a:rPr lang="en-US" sz="2300" dirty="0">
                <a:latin typeface="Aptos" panose="020B0004020202020204" pitchFamily="34" charset="0"/>
              </a:rPr>
              <a:t>References</a:t>
            </a:r>
          </a:p>
          <a:p>
            <a:pPr marL="457200" indent="-457200">
              <a:spcBef>
                <a:spcPts val="300"/>
              </a:spcBef>
              <a:spcAft>
                <a:spcPts val="300"/>
              </a:spcAft>
              <a:buFont typeface="+mj-lt"/>
              <a:buAutoNum type="arabicPeriod" startAt="4"/>
            </a:pPr>
            <a:endParaRPr lang="el-GR" sz="2300" dirty="0">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A3729-6302-0E0A-1BFF-D72F1B0FDA06}"/>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DDEA2B32-A80F-8CDD-0AC8-9B800740A8AF}"/>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8AE1BD80-3243-0716-4AC3-37159326889E}"/>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3</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C2960920-89E0-1E02-69E2-1359D2512732}"/>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8CFBF03D-1E93-1F02-EB71-310602272A18}"/>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A457DE4-7140-E5F8-7F11-536CD69E0ECC}"/>
              </a:ext>
            </a:extLst>
          </p:cNvPr>
          <p:cNvSpPr txBox="1"/>
          <p:nvPr/>
        </p:nvSpPr>
        <p:spPr>
          <a:xfrm>
            <a:off x="1101212" y="609600"/>
            <a:ext cx="10489897"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Background | Weather forecast models</a:t>
            </a:r>
            <a:endParaRPr lang="el-GR" sz="3200" b="1" dirty="0">
              <a:solidFill>
                <a:srgbClr val="29667D"/>
              </a:solidFill>
              <a:latin typeface="Aptos" panose="020B0004020202020204" pitchFamily="34" charset="0"/>
            </a:endParaRPr>
          </a:p>
        </p:txBody>
      </p:sp>
      <p:pic>
        <p:nvPicPr>
          <p:cNvPr id="4" name="Εικόνα 3" descr="Εικόνα που περιέχει κείμενο, διάγραμμα, χάρτης, στιγμιότυπο οθόνης&#10;&#10;Το περιεχόμενο που δημιουργείται από AI ενδέχεται να είναι εσφαλμένο.">
            <a:extLst>
              <a:ext uri="{FF2B5EF4-FFF2-40B4-BE49-F238E27FC236}">
                <a16:creationId xmlns:a16="http://schemas.microsoft.com/office/drawing/2014/main" id="{403CB26D-E27E-3BCF-7BDC-15225BDDA8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9511" y="1670281"/>
            <a:ext cx="4762500" cy="3162300"/>
          </a:xfrm>
          <a:prstGeom prst="rect">
            <a:avLst/>
          </a:prstGeom>
        </p:spPr>
      </p:pic>
      <p:sp>
        <p:nvSpPr>
          <p:cNvPr id="5" name="TextBox 4">
            <a:extLst>
              <a:ext uri="{FF2B5EF4-FFF2-40B4-BE49-F238E27FC236}">
                <a16:creationId xmlns:a16="http://schemas.microsoft.com/office/drawing/2014/main" id="{57314533-5013-ED5B-E9BA-931A7BD5944D}"/>
              </a:ext>
            </a:extLst>
          </p:cNvPr>
          <p:cNvSpPr txBox="1"/>
          <p:nvPr/>
        </p:nvSpPr>
        <p:spPr>
          <a:xfrm>
            <a:off x="1309511" y="5187719"/>
            <a:ext cx="4888090" cy="307777"/>
          </a:xfrm>
          <a:prstGeom prst="rect">
            <a:avLst/>
          </a:prstGeom>
          <a:noFill/>
        </p:spPr>
        <p:txBody>
          <a:bodyPr wrap="square" rtlCol="0">
            <a:spAutoFit/>
          </a:bodyPr>
          <a:lstStyle/>
          <a:p>
            <a:r>
              <a:rPr lang="en-US" sz="1400" b="1" dirty="0">
                <a:solidFill>
                  <a:schemeClr val="tx1">
                    <a:lumMod val="65000"/>
                    <a:lumOff val="35000"/>
                  </a:schemeClr>
                </a:solidFill>
                <a:latin typeface="Aptos" panose="020B0004020202020204" pitchFamily="34" charset="0"/>
              </a:rPr>
              <a:t>Schematic representation of the grid of a weather model </a:t>
            </a:r>
            <a:r>
              <a:rPr lang="en-US" sz="1400" b="1" baseline="30000" dirty="0">
                <a:solidFill>
                  <a:schemeClr val="tx1">
                    <a:lumMod val="65000"/>
                    <a:lumOff val="35000"/>
                  </a:schemeClr>
                </a:solidFill>
                <a:latin typeface="Aptos" panose="020B0004020202020204" pitchFamily="34" charset="0"/>
              </a:rPr>
              <a:t>1</a:t>
            </a:r>
            <a:endParaRPr lang="el-GR" sz="1400" b="1" baseline="30000" dirty="0">
              <a:solidFill>
                <a:schemeClr val="tx1">
                  <a:lumMod val="65000"/>
                  <a:lumOff val="35000"/>
                </a:schemeClr>
              </a:solidFill>
              <a:latin typeface="Aptos" panose="020B0004020202020204" pitchFamily="34" charset="0"/>
            </a:endParaRPr>
          </a:p>
        </p:txBody>
      </p:sp>
      <p:sp>
        <p:nvSpPr>
          <p:cNvPr id="6" name="TextBox 5">
            <a:extLst>
              <a:ext uri="{FF2B5EF4-FFF2-40B4-BE49-F238E27FC236}">
                <a16:creationId xmlns:a16="http://schemas.microsoft.com/office/drawing/2014/main" id="{5C54094B-C67F-6A4B-DFDA-C810184EA69B}"/>
              </a:ext>
            </a:extLst>
          </p:cNvPr>
          <p:cNvSpPr txBox="1"/>
          <p:nvPr/>
        </p:nvSpPr>
        <p:spPr>
          <a:xfrm>
            <a:off x="6355645" y="1332090"/>
            <a:ext cx="5667022" cy="4970591"/>
          </a:xfrm>
          <a:prstGeom prst="rect">
            <a:avLst/>
          </a:prstGeom>
          <a:noFill/>
        </p:spPr>
        <p:txBody>
          <a:bodyPr wrap="square" rtlCol="0">
            <a:spAutoFit/>
          </a:bodyPr>
          <a:lstStyle/>
          <a:p>
            <a:pPr marL="342900" indent="-342900">
              <a:buFont typeface="+mj-lt"/>
              <a:buAutoNum type="arabicPeriod"/>
            </a:pPr>
            <a:r>
              <a:rPr lang="en-US" b="1" dirty="0">
                <a:latin typeface="Aptos" panose="020B0004020202020204" pitchFamily="34" charset="0"/>
              </a:rPr>
              <a:t>Numerical Weather Prediction (NWP) Models </a:t>
            </a:r>
            <a:r>
              <a:rPr lang="en-US" dirty="0">
                <a:latin typeface="Aptos" panose="020B0004020202020204" pitchFamily="34" charset="0"/>
              </a:rPr>
              <a:t>:</a:t>
            </a:r>
          </a:p>
          <a:p>
            <a:pPr marL="800100" lvl="1" indent="-342900">
              <a:buFont typeface="Arial" panose="020B0604020202020204" pitchFamily="34" charset="0"/>
              <a:buChar char="•"/>
            </a:pPr>
            <a:r>
              <a:rPr lang="en-US" dirty="0">
                <a:latin typeface="Aptos" panose="020B0004020202020204" pitchFamily="34" charset="0"/>
              </a:rPr>
              <a:t>Deterministic modeling</a:t>
            </a:r>
          </a:p>
          <a:p>
            <a:pPr marL="800100" lvl="1" indent="-342900">
              <a:buFont typeface="Arial" panose="020B0604020202020204" pitchFamily="34" charset="0"/>
              <a:buChar char="•"/>
            </a:pPr>
            <a:r>
              <a:rPr lang="en-US" dirty="0">
                <a:latin typeface="Aptos" panose="020B0004020202020204" pitchFamily="34" charset="0"/>
              </a:rPr>
              <a:t>Solve </a:t>
            </a:r>
            <a:r>
              <a:rPr lang="en" dirty="0">
                <a:latin typeface="Aptos" panose="020B0004020202020204" pitchFamily="34" charset="0"/>
              </a:rPr>
              <a:t>differential</a:t>
            </a:r>
            <a:r>
              <a:rPr lang="en-US" dirty="0">
                <a:latin typeface="Aptos" panose="020B0004020202020204" pitchFamily="34" charset="0"/>
              </a:rPr>
              <a:t> equations to simulate atmospheric processes</a:t>
            </a:r>
          </a:p>
          <a:p>
            <a:pPr marL="800100" lvl="1" indent="-342900">
              <a:buFont typeface="Arial" panose="020B0604020202020204" pitchFamily="34" charset="0"/>
              <a:buChar char="•"/>
            </a:pPr>
            <a:r>
              <a:rPr lang="en-US" dirty="0">
                <a:latin typeface="Aptos" panose="020B0004020202020204" pitchFamily="34" charset="0"/>
              </a:rPr>
              <a:t>Rely on real-time observations and supercomputers</a:t>
            </a:r>
            <a:endParaRPr lang="el-GR" dirty="0">
              <a:latin typeface="Aptos" panose="020B0004020202020204" pitchFamily="34" charset="0"/>
            </a:endParaRPr>
          </a:p>
          <a:p>
            <a:pPr lvl="1"/>
            <a:endParaRPr lang="en-US" sz="1100" dirty="0">
              <a:latin typeface="Aptos" panose="020B0004020202020204" pitchFamily="34" charset="0"/>
            </a:endParaRPr>
          </a:p>
          <a:p>
            <a:pPr marL="342900" indent="-342900">
              <a:buFont typeface="+mj-lt"/>
              <a:buAutoNum type="arabicPeriod"/>
            </a:pPr>
            <a:r>
              <a:rPr lang="en-US" b="1" dirty="0">
                <a:latin typeface="Aptos" panose="020B0004020202020204" pitchFamily="34" charset="0"/>
              </a:rPr>
              <a:t>Statistical or Empirical Models</a:t>
            </a:r>
            <a:r>
              <a:rPr lang="en-US" dirty="0">
                <a:latin typeface="Aptos" panose="020B0004020202020204" pitchFamily="34" charset="0"/>
              </a:rPr>
              <a:t>:</a:t>
            </a:r>
          </a:p>
          <a:p>
            <a:pPr marL="742950" lvl="1" indent="-285750">
              <a:buFont typeface="Arial" panose="020B0604020202020204" pitchFamily="34" charset="0"/>
              <a:buChar char="•"/>
            </a:pPr>
            <a:r>
              <a:rPr lang="en-US" dirty="0">
                <a:latin typeface="Aptos" panose="020B0004020202020204" pitchFamily="34" charset="0"/>
              </a:rPr>
              <a:t>Use historical weather data and statistical relationships rather than physical equations</a:t>
            </a:r>
          </a:p>
          <a:p>
            <a:pPr marL="742950" lvl="1" indent="-285750">
              <a:buFont typeface="Arial" panose="020B0604020202020204" pitchFamily="34" charset="0"/>
              <a:buChar char="•"/>
            </a:pPr>
            <a:r>
              <a:rPr lang="en-US" dirty="0">
                <a:latin typeface="Aptos" panose="020B0004020202020204" pitchFamily="34" charset="0"/>
              </a:rPr>
              <a:t>Cannot replace NWP</a:t>
            </a:r>
          </a:p>
          <a:p>
            <a:pPr marL="742950" lvl="1" indent="-285750">
              <a:buFont typeface="Arial" panose="020B0604020202020204" pitchFamily="34" charset="0"/>
              <a:buChar char="•"/>
            </a:pPr>
            <a:r>
              <a:rPr lang="en-US" dirty="0">
                <a:latin typeface="Aptos" panose="020B0004020202020204" pitchFamily="34" charset="0"/>
              </a:rPr>
              <a:t>Excellent for bias correction</a:t>
            </a:r>
            <a:endParaRPr lang="el-GR" dirty="0">
              <a:latin typeface="Aptos" panose="020B0004020202020204" pitchFamily="34" charset="0"/>
            </a:endParaRPr>
          </a:p>
          <a:p>
            <a:pPr lvl="1"/>
            <a:endParaRPr lang="en-US" sz="1100" dirty="0">
              <a:latin typeface="Aptos" panose="020B0004020202020204" pitchFamily="34" charset="0"/>
            </a:endParaRPr>
          </a:p>
          <a:p>
            <a:pPr marL="342900" indent="-342900">
              <a:buFont typeface="+mj-lt"/>
              <a:buAutoNum type="arabicPeriod"/>
            </a:pPr>
            <a:r>
              <a:rPr lang="en-US" b="1" dirty="0">
                <a:latin typeface="Aptos" panose="020B0004020202020204" pitchFamily="34" charset="0"/>
              </a:rPr>
              <a:t>Hybrid / Data-Driven Models </a:t>
            </a:r>
            <a:r>
              <a:rPr lang="en-US" dirty="0">
                <a:latin typeface="Aptos" panose="020B0004020202020204" pitchFamily="34" charset="0"/>
              </a:rPr>
              <a:t>: </a:t>
            </a:r>
          </a:p>
          <a:p>
            <a:pPr marL="800100" lvl="1" indent="-342900">
              <a:buFont typeface="Arial" panose="020B0604020202020204" pitchFamily="34" charset="0"/>
              <a:buChar char="•"/>
            </a:pPr>
            <a:r>
              <a:rPr lang="en-US" dirty="0">
                <a:latin typeface="Aptos" panose="020B0004020202020204" pitchFamily="34" charset="0"/>
              </a:rPr>
              <a:t>Combine NWP physics with statistics</a:t>
            </a:r>
          </a:p>
          <a:p>
            <a:pPr marL="800100" lvl="1" indent="-342900">
              <a:buFont typeface="Arial" panose="020B0604020202020204" pitchFamily="34" charset="0"/>
              <a:buChar char="•"/>
            </a:pPr>
            <a:r>
              <a:rPr lang="en-US" dirty="0">
                <a:latin typeface="Aptos" panose="020B0004020202020204" pitchFamily="34" charset="0"/>
              </a:rPr>
              <a:t>Cutting-edge research</a:t>
            </a:r>
          </a:p>
          <a:p>
            <a:pPr marL="800100" lvl="1" indent="-342900">
              <a:buFont typeface="Arial" panose="020B0604020202020204" pitchFamily="34" charset="0"/>
              <a:buChar char="•"/>
            </a:pPr>
            <a:r>
              <a:rPr lang="en-US" dirty="0">
                <a:latin typeface="Aptos" panose="020B0004020202020204" pitchFamily="34" charset="0"/>
              </a:rPr>
              <a:t>Comparable to NWP at global scale (</a:t>
            </a:r>
            <a:r>
              <a:rPr lang="en-US" dirty="0" err="1">
                <a:latin typeface="Aptos" panose="020B0004020202020204" pitchFamily="34" charset="0"/>
              </a:rPr>
              <a:t>GraphCast</a:t>
            </a:r>
            <a:r>
              <a:rPr lang="en-US" dirty="0">
                <a:latin typeface="Aptos" panose="020B0004020202020204" pitchFamily="34" charset="0"/>
              </a:rPr>
              <a:t>  2023 </a:t>
            </a:r>
            <a:r>
              <a:rPr lang="en-US" baseline="30000" dirty="0">
                <a:latin typeface="Aptos" panose="020B0004020202020204" pitchFamily="34" charset="0"/>
              </a:rPr>
              <a:t>2</a:t>
            </a:r>
            <a:r>
              <a:rPr lang="en-US" dirty="0">
                <a:latin typeface="Aptos" panose="020B0004020202020204" pitchFamily="34" charset="0"/>
              </a:rPr>
              <a:t>)</a:t>
            </a:r>
            <a:endParaRPr lang="el-GR" dirty="0">
              <a:latin typeface="Aptos" panose="020B0004020202020204" pitchFamily="34" charset="0"/>
            </a:endParaRPr>
          </a:p>
        </p:txBody>
      </p:sp>
    </p:spTree>
    <p:extLst>
      <p:ext uri="{BB962C8B-B14F-4D97-AF65-F5344CB8AC3E}">
        <p14:creationId xmlns:p14="http://schemas.microsoft.com/office/powerpoint/2010/main" val="3008617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6B025-6C45-7017-FFD4-EA8506330FBB}"/>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8E24D0C5-4E2C-CB51-21F3-5E2C8ADE1EAA}"/>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B508A8C0-9D21-47D6-8FA5-8C53F35B2EB8}"/>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4</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D26814E7-27DB-73D4-32C2-4FE483D114C8}"/>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3F5E18B9-110D-1D3A-6D5C-6A25AC0BBAB3}"/>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76ECDC8-56C0-7F37-9F0E-AFD335A1AD5A}"/>
              </a:ext>
            </a:extLst>
          </p:cNvPr>
          <p:cNvSpPr txBox="1"/>
          <p:nvPr/>
        </p:nvSpPr>
        <p:spPr>
          <a:xfrm>
            <a:off x="1101212" y="609600"/>
            <a:ext cx="10489897"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Background | Weather forecast trade-offs</a:t>
            </a:r>
            <a:endParaRPr lang="el-GR" sz="3200" b="1" dirty="0">
              <a:solidFill>
                <a:srgbClr val="29667D"/>
              </a:solidFill>
              <a:latin typeface="Aptos" panose="020B0004020202020204" pitchFamily="34" charset="0"/>
            </a:endParaRPr>
          </a:p>
        </p:txBody>
      </p:sp>
      <p:pic>
        <p:nvPicPr>
          <p:cNvPr id="4" name="Εικόνα 3">
            <a:extLst>
              <a:ext uri="{FF2B5EF4-FFF2-40B4-BE49-F238E27FC236}">
                <a16:creationId xmlns:a16="http://schemas.microsoft.com/office/drawing/2014/main" id="{A6048346-7C19-F296-96D3-6EFF5FD6E13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52400" y="1498085"/>
            <a:ext cx="6918632" cy="3748829"/>
          </a:xfrm>
          <a:prstGeom prst="rect">
            <a:avLst/>
          </a:prstGeom>
        </p:spPr>
      </p:pic>
      <p:sp>
        <p:nvSpPr>
          <p:cNvPr id="5" name="TextBox 4">
            <a:extLst>
              <a:ext uri="{FF2B5EF4-FFF2-40B4-BE49-F238E27FC236}">
                <a16:creationId xmlns:a16="http://schemas.microsoft.com/office/drawing/2014/main" id="{6793C037-4639-7CAD-2F82-FF18B6E35798}"/>
              </a:ext>
            </a:extLst>
          </p:cNvPr>
          <p:cNvSpPr txBox="1"/>
          <p:nvPr/>
        </p:nvSpPr>
        <p:spPr>
          <a:xfrm>
            <a:off x="1320396" y="5337225"/>
            <a:ext cx="4888090" cy="307777"/>
          </a:xfrm>
          <a:prstGeom prst="rect">
            <a:avLst/>
          </a:prstGeom>
          <a:noFill/>
        </p:spPr>
        <p:txBody>
          <a:bodyPr wrap="square" rtlCol="0">
            <a:spAutoFit/>
          </a:bodyPr>
          <a:lstStyle/>
          <a:p>
            <a:r>
              <a:rPr lang="en-US" sz="1400" b="1" dirty="0">
                <a:solidFill>
                  <a:schemeClr val="tx1">
                    <a:lumMod val="65000"/>
                    <a:lumOff val="35000"/>
                  </a:schemeClr>
                </a:solidFill>
                <a:latin typeface="Aptos" panose="020B0004020202020204" pitchFamily="34" charset="0"/>
              </a:rPr>
              <a:t>Timescales of weather and climate information </a:t>
            </a:r>
            <a:r>
              <a:rPr lang="en-US" sz="1400" b="1" baseline="30000" dirty="0">
                <a:solidFill>
                  <a:schemeClr val="tx1">
                    <a:lumMod val="65000"/>
                    <a:lumOff val="35000"/>
                  </a:schemeClr>
                </a:solidFill>
                <a:latin typeface="Aptos" panose="020B0004020202020204" pitchFamily="34" charset="0"/>
              </a:rPr>
              <a:t>3</a:t>
            </a:r>
            <a:endParaRPr lang="el-GR" sz="1400" b="1" baseline="30000" dirty="0">
              <a:solidFill>
                <a:schemeClr val="tx1">
                  <a:lumMod val="65000"/>
                  <a:lumOff val="35000"/>
                </a:schemeClr>
              </a:solidFill>
              <a:latin typeface="Aptos" panose="020B0004020202020204" pitchFamily="34" charset="0"/>
            </a:endParaRPr>
          </a:p>
        </p:txBody>
      </p:sp>
      <p:sp>
        <p:nvSpPr>
          <p:cNvPr id="6" name="TextBox 5">
            <a:extLst>
              <a:ext uri="{FF2B5EF4-FFF2-40B4-BE49-F238E27FC236}">
                <a16:creationId xmlns:a16="http://schemas.microsoft.com/office/drawing/2014/main" id="{6A4A1735-4A1A-7479-3F68-939F6CAC9288}"/>
              </a:ext>
            </a:extLst>
          </p:cNvPr>
          <p:cNvSpPr txBox="1"/>
          <p:nvPr/>
        </p:nvSpPr>
        <p:spPr>
          <a:xfrm>
            <a:off x="7182961" y="1811062"/>
            <a:ext cx="5009039" cy="296087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dirty="0">
                <a:latin typeface="Aptos" panose="020B0004020202020204" pitchFamily="34" charset="0"/>
              </a:rPr>
              <a:t>Time Range vs. Accuracy</a:t>
            </a:r>
          </a:p>
          <a:p>
            <a:pPr marL="342900" indent="-342900">
              <a:lnSpc>
                <a:spcPct val="150000"/>
              </a:lnSpc>
              <a:buFont typeface="Arial" panose="020B0604020202020204" pitchFamily="34" charset="0"/>
              <a:buChar char="•"/>
            </a:pPr>
            <a:r>
              <a:rPr lang="en-US" dirty="0">
                <a:latin typeface="Aptos" panose="020B0004020202020204" pitchFamily="34" charset="0"/>
              </a:rPr>
              <a:t>Spatial Resolution vs. Forecast Range</a:t>
            </a:r>
          </a:p>
          <a:p>
            <a:pPr marL="342900" indent="-342900">
              <a:lnSpc>
                <a:spcPct val="150000"/>
              </a:lnSpc>
              <a:buFont typeface="Arial" panose="020B0604020202020204" pitchFamily="34" charset="0"/>
              <a:buChar char="•"/>
            </a:pPr>
            <a:r>
              <a:rPr lang="en-US" dirty="0">
                <a:latin typeface="Aptos" panose="020B0004020202020204" pitchFamily="34" charset="0"/>
              </a:rPr>
              <a:t>Update Frequency vs. Cost</a:t>
            </a:r>
          </a:p>
          <a:p>
            <a:pPr marL="342900" indent="-342900">
              <a:lnSpc>
                <a:spcPct val="150000"/>
              </a:lnSpc>
              <a:buFont typeface="Arial" panose="020B0604020202020204" pitchFamily="34" charset="0"/>
              <a:buChar char="•"/>
            </a:pPr>
            <a:r>
              <a:rPr lang="en-US" dirty="0">
                <a:latin typeface="Aptos" panose="020B0004020202020204" pitchFamily="34" charset="0"/>
              </a:rPr>
              <a:t>Complex Physics vs. Speed</a:t>
            </a:r>
          </a:p>
          <a:p>
            <a:pPr marL="342900" indent="-342900">
              <a:lnSpc>
                <a:spcPct val="150000"/>
              </a:lnSpc>
              <a:buFont typeface="Arial" panose="020B0604020202020204" pitchFamily="34" charset="0"/>
              <a:buChar char="•"/>
            </a:pPr>
            <a:r>
              <a:rPr lang="en-US" dirty="0">
                <a:latin typeface="Aptos" panose="020B0004020202020204" pitchFamily="34" charset="0"/>
              </a:rPr>
              <a:t>Deterministic vs. Probabilistic (Ensemble)</a:t>
            </a:r>
          </a:p>
          <a:p>
            <a:pPr marL="342900" indent="-342900">
              <a:lnSpc>
                <a:spcPct val="150000"/>
              </a:lnSpc>
              <a:buFont typeface="Arial" panose="020B0604020202020204" pitchFamily="34" charset="0"/>
              <a:buChar char="•"/>
            </a:pPr>
            <a:r>
              <a:rPr lang="en-US" dirty="0">
                <a:latin typeface="Aptos" panose="020B0004020202020204" pitchFamily="34" charset="0"/>
              </a:rPr>
              <a:t>Global vs. Regional Focus</a:t>
            </a:r>
          </a:p>
          <a:p>
            <a:pPr marL="342900" indent="-342900">
              <a:lnSpc>
                <a:spcPct val="150000"/>
              </a:lnSpc>
              <a:buFont typeface="Arial" panose="020B0604020202020204" pitchFamily="34" charset="0"/>
              <a:buChar char="•"/>
            </a:pPr>
            <a:r>
              <a:rPr lang="en-US" dirty="0">
                <a:latin typeface="Aptos" panose="020B0004020202020204" pitchFamily="34" charset="0"/>
              </a:rPr>
              <a:t>Observational Density vs. Real-time Delivery</a:t>
            </a:r>
            <a:endParaRPr lang="el-GR" dirty="0">
              <a:latin typeface="Aptos" panose="020B0004020202020204" pitchFamily="34" charset="0"/>
            </a:endParaRPr>
          </a:p>
        </p:txBody>
      </p:sp>
      <p:sp>
        <p:nvSpPr>
          <p:cNvPr id="2" name="Ορθογώνιο 1">
            <a:extLst>
              <a:ext uri="{FF2B5EF4-FFF2-40B4-BE49-F238E27FC236}">
                <a16:creationId xmlns:a16="http://schemas.microsoft.com/office/drawing/2014/main" id="{A4E6288B-E86D-6E70-AF0E-265ABA29DF70}"/>
              </a:ext>
            </a:extLst>
          </p:cNvPr>
          <p:cNvSpPr/>
          <p:nvPr/>
        </p:nvSpPr>
        <p:spPr>
          <a:xfrm>
            <a:off x="7130143" y="2329542"/>
            <a:ext cx="4288971" cy="3374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1216857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1F017-F114-308D-0A81-3B397AE9A66C}"/>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93A22C2B-70AB-4E49-922F-FCA1486C85A5}"/>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F0E04555-27E0-4157-DEEA-7FEAF3CBED16}"/>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5</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030CC693-6A84-9B02-4915-3229F5C3F17F}"/>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DF8B939E-5059-DF36-050C-AA5878504DD2}"/>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D9EF4A7-12B4-3D3D-9BCC-40424267FEE4}"/>
              </a:ext>
            </a:extLst>
          </p:cNvPr>
          <p:cNvSpPr txBox="1"/>
          <p:nvPr/>
        </p:nvSpPr>
        <p:spPr>
          <a:xfrm>
            <a:off x="1101212" y="609600"/>
            <a:ext cx="10277988"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Motivation / Problem statement</a:t>
            </a:r>
            <a:endParaRPr lang="el-GR" sz="3200" b="1" dirty="0">
              <a:solidFill>
                <a:srgbClr val="29667D"/>
              </a:solidFill>
              <a:latin typeface="Aptos" panose="020B0004020202020204" pitchFamily="34" charset="0"/>
            </a:endParaRPr>
          </a:p>
        </p:txBody>
      </p:sp>
      <p:sp>
        <p:nvSpPr>
          <p:cNvPr id="7" name="TextBox 6">
            <a:extLst>
              <a:ext uri="{FF2B5EF4-FFF2-40B4-BE49-F238E27FC236}">
                <a16:creationId xmlns:a16="http://schemas.microsoft.com/office/drawing/2014/main" id="{AAD064F3-568E-6775-221D-F87BA6051438}"/>
              </a:ext>
            </a:extLst>
          </p:cNvPr>
          <p:cNvSpPr txBox="1"/>
          <p:nvPr/>
        </p:nvSpPr>
        <p:spPr>
          <a:xfrm>
            <a:off x="587828" y="1299254"/>
            <a:ext cx="11016343" cy="461665"/>
          </a:xfrm>
          <a:prstGeom prst="rect">
            <a:avLst/>
          </a:prstGeom>
          <a:noFill/>
        </p:spPr>
        <p:txBody>
          <a:bodyPr wrap="square" rtlCol="0">
            <a:spAutoFit/>
          </a:bodyPr>
          <a:lstStyle/>
          <a:p>
            <a:pPr algn="ctr"/>
            <a:r>
              <a:rPr lang="en-US" sz="2400" b="1" dirty="0">
                <a:solidFill>
                  <a:srgbClr val="29667D"/>
                </a:solidFill>
                <a:latin typeface="Aptos" panose="020B0004020202020204" pitchFamily="34" charset="0"/>
              </a:rPr>
              <a:t>“High resolution is crucial for guiding more confident decision-making.”</a:t>
            </a:r>
            <a:endParaRPr lang="el-GR" sz="2400" b="1" dirty="0">
              <a:solidFill>
                <a:srgbClr val="29667D"/>
              </a:solidFill>
              <a:latin typeface="Aptos" panose="020B0004020202020204" pitchFamily="34" charset="0"/>
            </a:endParaRPr>
          </a:p>
        </p:txBody>
      </p:sp>
      <p:sp>
        <p:nvSpPr>
          <p:cNvPr id="9" name="TextBox 8">
            <a:extLst>
              <a:ext uri="{FF2B5EF4-FFF2-40B4-BE49-F238E27FC236}">
                <a16:creationId xmlns:a16="http://schemas.microsoft.com/office/drawing/2014/main" id="{126813F6-0AA9-417F-8912-31CC15F188B0}"/>
              </a:ext>
            </a:extLst>
          </p:cNvPr>
          <p:cNvSpPr txBox="1"/>
          <p:nvPr/>
        </p:nvSpPr>
        <p:spPr>
          <a:xfrm>
            <a:off x="1164772" y="2373086"/>
            <a:ext cx="4680857" cy="2031325"/>
          </a:xfrm>
          <a:prstGeom prst="rect">
            <a:avLst/>
          </a:prstGeom>
          <a:noFill/>
        </p:spPr>
        <p:txBody>
          <a:bodyPr wrap="square" rtlCol="0">
            <a:spAutoFit/>
          </a:bodyPr>
          <a:lstStyle/>
          <a:p>
            <a:r>
              <a:rPr lang="en-US" b="1" dirty="0">
                <a:latin typeface="Aptos" panose="020B0004020202020204" pitchFamily="34" charset="0"/>
              </a:rPr>
              <a:t>Short Term:</a:t>
            </a:r>
          </a:p>
          <a:p>
            <a:pPr marL="285750" indent="-285750">
              <a:buFont typeface="Arial" panose="020B0604020202020204" pitchFamily="34" charset="0"/>
              <a:buChar char="•"/>
            </a:pPr>
            <a:r>
              <a:rPr lang="en-US" dirty="0">
                <a:latin typeface="Aptos" panose="020B0004020202020204" pitchFamily="34" charset="0"/>
              </a:rPr>
              <a:t>Agriculture</a:t>
            </a:r>
          </a:p>
          <a:p>
            <a:pPr marL="285750" indent="-285750">
              <a:buFont typeface="Arial" panose="020B0604020202020204" pitchFamily="34" charset="0"/>
              <a:buChar char="•"/>
            </a:pPr>
            <a:r>
              <a:rPr lang="en-US" dirty="0">
                <a:latin typeface="Aptos" panose="020B0004020202020204" pitchFamily="34" charset="0"/>
              </a:rPr>
              <a:t>Energy</a:t>
            </a:r>
          </a:p>
          <a:p>
            <a:pPr marL="285750" indent="-285750">
              <a:buFont typeface="Arial" panose="020B0604020202020204" pitchFamily="34" charset="0"/>
              <a:buChar char="•"/>
            </a:pPr>
            <a:r>
              <a:rPr lang="en-US" dirty="0">
                <a:latin typeface="Aptos" panose="020B0004020202020204" pitchFamily="34" charset="0"/>
              </a:rPr>
              <a:t>Transportation</a:t>
            </a:r>
          </a:p>
          <a:p>
            <a:pPr marL="285750" indent="-285750">
              <a:buFont typeface="Arial" panose="020B0604020202020204" pitchFamily="34" charset="0"/>
              <a:buChar char="•"/>
            </a:pPr>
            <a:r>
              <a:rPr lang="en-US" dirty="0">
                <a:latin typeface="Aptos" panose="020B0004020202020204" pitchFamily="34" charset="0"/>
              </a:rPr>
              <a:t>Construction</a:t>
            </a:r>
          </a:p>
          <a:p>
            <a:pPr marL="285750" indent="-285750">
              <a:buFont typeface="Arial" panose="020B0604020202020204" pitchFamily="34" charset="0"/>
              <a:buChar char="•"/>
            </a:pPr>
            <a:r>
              <a:rPr lang="en-US" dirty="0">
                <a:latin typeface="Aptos" panose="020B0004020202020204" pitchFamily="34" charset="0"/>
              </a:rPr>
              <a:t>Tourism and Entertainment</a:t>
            </a:r>
          </a:p>
          <a:p>
            <a:pPr marL="285750" indent="-285750">
              <a:buFont typeface="Arial" panose="020B0604020202020204" pitchFamily="34" charset="0"/>
              <a:buChar char="•"/>
            </a:pPr>
            <a:r>
              <a:rPr lang="en-US" dirty="0">
                <a:latin typeface="Aptos" panose="020B0004020202020204" pitchFamily="34" charset="0"/>
              </a:rPr>
              <a:t>Environment and Disaster Management</a:t>
            </a:r>
            <a:endParaRPr lang="el-GR" dirty="0">
              <a:latin typeface="Aptos" panose="020B0004020202020204" pitchFamily="34" charset="0"/>
            </a:endParaRPr>
          </a:p>
        </p:txBody>
      </p:sp>
      <p:sp>
        <p:nvSpPr>
          <p:cNvPr id="10" name="TextBox 9">
            <a:extLst>
              <a:ext uri="{FF2B5EF4-FFF2-40B4-BE49-F238E27FC236}">
                <a16:creationId xmlns:a16="http://schemas.microsoft.com/office/drawing/2014/main" id="{A254270A-3A05-FEEE-5E42-52F03FFEF9B2}"/>
              </a:ext>
            </a:extLst>
          </p:cNvPr>
          <p:cNvSpPr txBox="1"/>
          <p:nvPr/>
        </p:nvSpPr>
        <p:spPr>
          <a:xfrm>
            <a:off x="7053942" y="2383971"/>
            <a:ext cx="4278086" cy="2031325"/>
          </a:xfrm>
          <a:prstGeom prst="rect">
            <a:avLst/>
          </a:prstGeom>
          <a:noFill/>
        </p:spPr>
        <p:txBody>
          <a:bodyPr wrap="square" rtlCol="0">
            <a:spAutoFit/>
          </a:bodyPr>
          <a:lstStyle/>
          <a:p>
            <a:r>
              <a:rPr lang="en-US" b="1" dirty="0">
                <a:latin typeface="Aptos" panose="020B0004020202020204" pitchFamily="34" charset="0"/>
              </a:rPr>
              <a:t>Medium-Long Term:</a:t>
            </a:r>
          </a:p>
          <a:p>
            <a:pPr marL="285750" indent="-285750">
              <a:buFont typeface="Arial" panose="020B0604020202020204" pitchFamily="34" charset="0"/>
              <a:buChar char="•"/>
            </a:pPr>
            <a:r>
              <a:rPr lang="en-US" dirty="0">
                <a:latin typeface="Aptos" panose="020B0004020202020204" pitchFamily="34" charset="0"/>
              </a:rPr>
              <a:t>Agriculture</a:t>
            </a:r>
          </a:p>
          <a:p>
            <a:pPr marL="285750" indent="-285750">
              <a:buFont typeface="Arial" panose="020B0604020202020204" pitchFamily="34" charset="0"/>
              <a:buChar char="•"/>
            </a:pPr>
            <a:r>
              <a:rPr lang="en-US" dirty="0">
                <a:latin typeface="Aptos" panose="020B0004020202020204" pitchFamily="34" charset="0"/>
              </a:rPr>
              <a:t>Insurance</a:t>
            </a:r>
          </a:p>
          <a:p>
            <a:pPr marL="285750" indent="-285750">
              <a:buFont typeface="Arial" panose="020B0604020202020204" pitchFamily="34" charset="0"/>
              <a:buChar char="•"/>
            </a:pPr>
            <a:r>
              <a:rPr lang="en-US" dirty="0">
                <a:latin typeface="Aptos" panose="020B0004020202020204" pitchFamily="34" charset="0"/>
              </a:rPr>
              <a:t>Real Estate</a:t>
            </a:r>
          </a:p>
          <a:p>
            <a:pPr marL="285750" indent="-285750">
              <a:buFont typeface="Arial" panose="020B0604020202020204" pitchFamily="34" charset="0"/>
              <a:buChar char="•"/>
            </a:pPr>
            <a:r>
              <a:rPr lang="en-US" dirty="0">
                <a:latin typeface="Aptos" panose="020B0004020202020204" pitchFamily="34" charset="0"/>
              </a:rPr>
              <a:t>Urban Planning</a:t>
            </a:r>
          </a:p>
          <a:p>
            <a:pPr marL="285750" indent="-285750">
              <a:buFont typeface="Arial" panose="020B0604020202020204" pitchFamily="34" charset="0"/>
              <a:buChar char="•"/>
            </a:pPr>
            <a:r>
              <a:rPr lang="en-US" dirty="0"/>
              <a:t>Tourism</a:t>
            </a:r>
            <a:endParaRPr lang="en-US" dirty="0">
              <a:latin typeface="Aptos" panose="020B0004020202020204" pitchFamily="34" charset="0"/>
            </a:endParaRPr>
          </a:p>
          <a:p>
            <a:pPr marL="285750" indent="-285750">
              <a:buFont typeface="Arial" panose="020B0604020202020204" pitchFamily="34" charset="0"/>
              <a:buChar char="•"/>
            </a:pPr>
            <a:r>
              <a:rPr lang="en-US" dirty="0">
                <a:latin typeface="Aptos" panose="020B0004020202020204" pitchFamily="34" charset="0"/>
              </a:rPr>
              <a:t>Public Health</a:t>
            </a:r>
            <a:endParaRPr lang="el-GR" dirty="0">
              <a:latin typeface="Aptos" panose="020B0004020202020204" pitchFamily="34" charset="0"/>
            </a:endParaRPr>
          </a:p>
        </p:txBody>
      </p:sp>
    </p:spTree>
    <p:extLst>
      <p:ext uri="{BB962C8B-B14F-4D97-AF65-F5344CB8AC3E}">
        <p14:creationId xmlns:p14="http://schemas.microsoft.com/office/powerpoint/2010/main" val="270531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6E8A0-D59D-CD53-9356-F114ADDCA6B7}"/>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5066CA11-0264-2D2D-2B3E-8ABEE4406250}"/>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E66F38FF-383B-4B4A-7C72-91A5DB5F8CA8}"/>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6</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01A6651A-47B9-721D-5236-3BAD7620A0DF}"/>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AC1A52F8-D56E-80BF-A492-2B42409DCDDE}"/>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4E0DC37-A6CA-4C28-1BFD-AE4D71B75263}"/>
              </a:ext>
            </a:extLst>
          </p:cNvPr>
          <p:cNvSpPr txBox="1"/>
          <p:nvPr/>
        </p:nvSpPr>
        <p:spPr>
          <a:xfrm>
            <a:off x="1101212" y="609600"/>
            <a:ext cx="10277988"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Motivation / Problem statement</a:t>
            </a:r>
            <a:endParaRPr lang="el-GR" sz="3200" b="1" dirty="0">
              <a:solidFill>
                <a:srgbClr val="29667D"/>
              </a:solidFill>
              <a:latin typeface="Aptos" panose="020B0004020202020204" pitchFamily="34" charset="0"/>
            </a:endParaRPr>
          </a:p>
        </p:txBody>
      </p:sp>
      <p:pic>
        <p:nvPicPr>
          <p:cNvPr id="4" name="Εικόνα 3">
            <a:extLst>
              <a:ext uri="{FF2B5EF4-FFF2-40B4-BE49-F238E27FC236}">
                <a16:creationId xmlns:a16="http://schemas.microsoft.com/office/drawing/2014/main" id="{D3B87BB2-0E38-58D9-1D9C-30B15EE540A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43800" y="1391000"/>
            <a:ext cx="4054581" cy="3942816"/>
          </a:xfrm>
          <a:prstGeom prst="rect">
            <a:avLst/>
          </a:prstGeom>
        </p:spPr>
      </p:pic>
      <p:sp>
        <p:nvSpPr>
          <p:cNvPr id="5" name="TextBox 4">
            <a:extLst>
              <a:ext uri="{FF2B5EF4-FFF2-40B4-BE49-F238E27FC236}">
                <a16:creationId xmlns:a16="http://schemas.microsoft.com/office/drawing/2014/main" id="{F8DC4C8B-812A-F81D-CDA7-4CE515BF1FE3}"/>
              </a:ext>
            </a:extLst>
          </p:cNvPr>
          <p:cNvSpPr txBox="1"/>
          <p:nvPr/>
        </p:nvSpPr>
        <p:spPr>
          <a:xfrm>
            <a:off x="8730341" y="5544052"/>
            <a:ext cx="2550887" cy="307777"/>
          </a:xfrm>
          <a:prstGeom prst="rect">
            <a:avLst/>
          </a:prstGeom>
          <a:noFill/>
        </p:spPr>
        <p:txBody>
          <a:bodyPr wrap="square" rtlCol="0">
            <a:spAutoFit/>
          </a:bodyPr>
          <a:lstStyle/>
          <a:p>
            <a:r>
              <a:rPr lang="en-US" sz="1400" b="1" dirty="0">
                <a:solidFill>
                  <a:schemeClr val="tx1">
                    <a:lumMod val="65000"/>
                    <a:lumOff val="35000"/>
                  </a:schemeClr>
                </a:solidFill>
                <a:latin typeface="Aptos" panose="020B0004020202020204" pitchFamily="34" charset="0"/>
              </a:rPr>
              <a:t>Spatial Resolution </a:t>
            </a:r>
            <a:r>
              <a:rPr lang="en-US" sz="1400" b="1" baseline="30000" dirty="0">
                <a:solidFill>
                  <a:schemeClr val="tx1">
                    <a:lumMod val="65000"/>
                    <a:lumOff val="35000"/>
                  </a:schemeClr>
                </a:solidFill>
                <a:latin typeface="Aptos" panose="020B0004020202020204" pitchFamily="34" charset="0"/>
              </a:rPr>
              <a:t>4</a:t>
            </a:r>
            <a:endParaRPr lang="el-GR" sz="1400" b="1" baseline="30000" dirty="0">
              <a:solidFill>
                <a:schemeClr val="tx1">
                  <a:lumMod val="65000"/>
                  <a:lumOff val="35000"/>
                </a:schemeClr>
              </a:solidFill>
              <a:latin typeface="Aptos" panose="020B0004020202020204" pitchFamily="34" charset="0"/>
            </a:endParaRPr>
          </a:p>
        </p:txBody>
      </p:sp>
      <p:sp>
        <p:nvSpPr>
          <p:cNvPr id="2" name="TextBox 1">
            <a:extLst>
              <a:ext uri="{FF2B5EF4-FFF2-40B4-BE49-F238E27FC236}">
                <a16:creationId xmlns:a16="http://schemas.microsoft.com/office/drawing/2014/main" id="{838477FB-8F03-1D53-3880-4BEC4E6162AA}"/>
              </a:ext>
            </a:extLst>
          </p:cNvPr>
          <p:cNvSpPr txBox="1"/>
          <p:nvPr/>
        </p:nvSpPr>
        <p:spPr>
          <a:xfrm>
            <a:off x="990598" y="1513116"/>
            <a:ext cx="6781800" cy="2508379"/>
          </a:xfrm>
          <a:prstGeom prst="rect">
            <a:avLst/>
          </a:prstGeom>
          <a:noFill/>
        </p:spPr>
        <p:txBody>
          <a:bodyPr wrap="square" rtlCol="0">
            <a:spAutoFit/>
          </a:bodyPr>
          <a:lstStyle/>
          <a:p>
            <a:r>
              <a:rPr lang="en-US" sz="2000" b="1" dirty="0">
                <a:solidFill>
                  <a:schemeClr val="tx1">
                    <a:lumMod val="65000"/>
                    <a:lumOff val="35000"/>
                  </a:schemeClr>
                </a:solidFill>
                <a:latin typeface="Aptos" panose="020B0004020202020204" pitchFamily="34" charset="0"/>
              </a:rPr>
              <a:t>When Forecast Models Use Low Spatial Resolution</a:t>
            </a:r>
          </a:p>
          <a:p>
            <a:endParaRPr lang="en-US" b="1" dirty="0">
              <a:latin typeface="Aptos" panose="020B0004020202020204" pitchFamily="34" charset="0"/>
            </a:endParaRPr>
          </a:p>
          <a:p>
            <a:pPr marL="342900" indent="-342900">
              <a:buFont typeface="+mj-lt"/>
              <a:buAutoNum type="arabicPeriod"/>
            </a:pPr>
            <a:r>
              <a:rPr lang="en-US" b="1" dirty="0">
                <a:latin typeface="Aptos" panose="020B0004020202020204" pitchFamily="34" charset="0"/>
              </a:rPr>
              <a:t>Global Weather Models</a:t>
            </a:r>
          </a:p>
          <a:p>
            <a:pPr marL="800100" lvl="1" indent="-342900">
              <a:buFont typeface="Arial" panose="020B0604020202020204" pitchFamily="34" charset="0"/>
              <a:buChar char="•"/>
            </a:pPr>
            <a:r>
              <a:rPr lang="en-US" dirty="0">
                <a:latin typeface="Aptos" panose="020B0004020202020204" pitchFamily="34" charset="0"/>
              </a:rPr>
              <a:t>Cover the </a:t>
            </a:r>
            <a:r>
              <a:rPr lang="en-US" b="1" dirty="0">
                <a:latin typeface="Aptos" panose="020B0004020202020204" pitchFamily="34" charset="0"/>
              </a:rPr>
              <a:t>entire Earth</a:t>
            </a:r>
          </a:p>
          <a:p>
            <a:pPr marL="800100" lvl="1" indent="-342900">
              <a:buFont typeface="Arial" panose="020B0604020202020204" pitchFamily="34" charset="0"/>
              <a:buChar char="•"/>
            </a:pPr>
            <a:r>
              <a:rPr lang="en-US" dirty="0">
                <a:latin typeface="Aptos" panose="020B0004020202020204" pitchFamily="34" charset="0"/>
              </a:rPr>
              <a:t>Typical resolution: </a:t>
            </a:r>
            <a:r>
              <a:rPr lang="en-US" b="1" dirty="0">
                <a:latin typeface="Aptos" panose="020B0004020202020204" pitchFamily="34" charset="0"/>
              </a:rPr>
              <a:t>10–50 km grid spacing</a:t>
            </a:r>
            <a:endParaRPr lang="en-US" dirty="0">
              <a:latin typeface="Aptos" panose="020B0004020202020204" pitchFamily="34" charset="0"/>
            </a:endParaRPr>
          </a:p>
          <a:p>
            <a:pPr lvl="1"/>
            <a:endParaRPr lang="en-US" sz="1100" dirty="0">
              <a:latin typeface="Aptos" panose="020B0004020202020204" pitchFamily="34" charset="0"/>
            </a:endParaRPr>
          </a:p>
          <a:p>
            <a:pPr marL="342900" indent="-342900">
              <a:buFont typeface="+mj-lt"/>
              <a:buAutoNum type="arabicPeriod"/>
            </a:pPr>
            <a:r>
              <a:rPr lang="en-US" b="1" dirty="0">
                <a:latin typeface="Aptos" panose="020B0004020202020204" pitchFamily="34" charset="0"/>
              </a:rPr>
              <a:t>Climate Models</a:t>
            </a:r>
          </a:p>
          <a:p>
            <a:pPr marL="800100" lvl="1" indent="-342900">
              <a:buFont typeface="Arial" panose="020B0604020202020204" pitchFamily="34" charset="0"/>
              <a:buChar char="•"/>
            </a:pPr>
            <a:r>
              <a:rPr lang="en-US" dirty="0">
                <a:latin typeface="Aptos" panose="020B0004020202020204" pitchFamily="34" charset="0"/>
              </a:rPr>
              <a:t>Forecast </a:t>
            </a:r>
            <a:r>
              <a:rPr lang="en-US" b="1" dirty="0">
                <a:latin typeface="Aptos" panose="020B0004020202020204" pitchFamily="34" charset="0"/>
              </a:rPr>
              <a:t>decades to centuries ahead</a:t>
            </a:r>
          </a:p>
          <a:p>
            <a:pPr marL="800100" lvl="1" indent="-342900">
              <a:buFont typeface="Arial" panose="020B0604020202020204" pitchFamily="34" charset="0"/>
              <a:buChar char="•"/>
            </a:pPr>
            <a:r>
              <a:rPr lang="en-US" dirty="0">
                <a:latin typeface="Aptos" panose="020B0004020202020204" pitchFamily="34" charset="0"/>
              </a:rPr>
              <a:t>Typical resolution: </a:t>
            </a:r>
            <a:r>
              <a:rPr lang="en-US" b="1" dirty="0">
                <a:latin typeface="Aptos" panose="020B0004020202020204" pitchFamily="34" charset="0"/>
              </a:rPr>
              <a:t>50–200 km grid spacing</a:t>
            </a:r>
          </a:p>
        </p:txBody>
      </p:sp>
      <p:sp>
        <p:nvSpPr>
          <p:cNvPr id="6" name="TextBox 5">
            <a:extLst>
              <a:ext uri="{FF2B5EF4-FFF2-40B4-BE49-F238E27FC236}">
                <a16:creationId xmlns:a16="http://schemas.microsoft.com/office/drawing/2014/main" id="{396EF65D-E772-2C55-C8DB-EDA68B61282C}"/>
              </a:ext>
            </a:extLst>
          </p:cNvPr>
          <p:cNvSpPr txBox="1"/>
          <p:nvPr/>
        </p:nvSpPr>
        <p:spPr>
          <a:xfrm>
            <a:off x="631371" y="4261534"/>
            <a:ext cx="5464629" cy="1677382"/>
          </a:xfrm>
          <a:prstGeom prst="rect">
            <a:avLst/>
          </a:prstGeom>
          <a:noFill/>
        </p:spPr>
        <p:txBody>
          <a:bodyPr wrap="square" rtlCol="0">
            <a:spAutoFit/>
          </a:bodyPr>
          <a:lstStyle/>
          <a:p>
            <a:pPr lvl="1"/>
            <a:r>
              <a:rPr lang="en-US" sz="2000" b="1" dirty="0">
                <a:solidFill>
                  <a:schemeClr val="tx1">
                    <a:lumMod val="65000"/>
                    <a:lumOff val="35000"/>
                  </a:schemeClr>
                </a:solidFill>
                <a:latin typeface="Aptos" panose="020B0004020202020204" pitchFamily="34" charset="0"/>
              </a:rPr>
              <a:t>Solutions</a:t>
            </a:r>
          </a:p>
          <a:p>
            <a:pPr lvl="1"/>
            <a:endParaRPr lang="en-US" sz="1100" b="1" dirty="0">
              <a:latin typeface="Aptos" panose="020B0004020202020204" pitchFamily="34" charset="0"/>
            </a:endParaRPr>
          </a:p>
          <a:p>
            <a:pPr marL="742950" lvl="1" indent="-285750">
              <a:buFont typeface="Arial" panose="020B0604020202020204" pitchFamily="34" charset="0"/>
              <a:buChar char="•"/>
            </a:pPr>
            <a:r>
              <a:rPr lang="en-US" b="1" dirty="0">
                <a:latin typeface="Aptos" panose="020B0004020202020204" pitchFamily="34" charset="0"/>
              </a:rPr>
              <a:t>Dynamical</a:t>
            </a:r>
            <a:r>
              <a:rPr lang="en-US" dirty="0">
                <a:latin typeface="Aptos" panose="020B0004020202020204" pitchFamily="34" charset="0"/>
              </a:rPr>
              <a:t> Downscaling</a:t>
            </a:r>
          </a:p>
          <a:p>
            <a:pPr marL="742950" lvl="1" indent="-285750">
              <a:buFont typeface="Arial" panose="020B0604020202020204" pitchFamily="34" charset="0"/>
              <a:buChar char="•"/>
            </a:pPr>
            <a:r>
              <a:rPr lang="en-US" b="1" dirty="0">
                <a:latin typeface="Aptos" panose="020B0004020202020204" pitchFamily="34" charset="0"/>
              </a:rPr>
              <a:t>Statistical</a:t>
            </a:r>
            <a:r>
              <a:rPr lang="en-US" dirty="0">
                <a:latin typeface="Aptos" panose="020B0004020202020204" pitchFamily="34" charset="0"/>
              </a:rPr>
              <a:t> Downscaling</a:t>
            </a:r>
          </a:p>
          <a:p>
            <a:pPr marL="742950" lvl="1" indent="-285750">
              <a:buFont typeface="Arial" panose="020B0604020202020204" pitchFamily="34" charset="0"/>
              <a:buChar char="•"/>
            </a:pPr>
            <a:r>
              <a:rPr lang="en-US" b="1" dirty="0">
                <a:latin typeface="Aptos" panose="020B0004020202020204" pitchFamily="34" charset="0"/>
              </a:rPr>
              <a:t>Deep Learning </a:t>
            </a:r>
            <a:r>
              <a:rPr lang="en-US" dirty="0">
                <a:latin typeface="Aptos" panose="020B0004020202020204" pitchFamily="34" charset="0"/>
              </a:rPr>
              <a:t>Downscaling</a:t>
            </a:r>
            <a:endParaRPr lang="en-US" b="1" dirty="0">
              <a:latin typeface="Aptos" panose="020B0004020202020204" pitchFamily="34" charset="0"/>
            </a:endParaRPr>
          </a:p>
          <a:p>
            <a:endParaRPr lang="el-GR" dirty="0"/>
          </a:p>
        </p:txBody>
      </p:sp>
      <p:sp>
        <p:nvSpPr>
          <p:cNvPr id="8" name="Ορθογώνιο 7">
            <a:extLst>
              <a:ext uri="{FF2B5EF4-FFF2-40B4-BE49-F238E27FC236}">
                <a16:creationId xmlns:a16="http://schemas.microsoft.com/office/drawing/2014/main" id="{88D5A3E1-7D92-DD08-B878-D2D2ECF9CF94}"/>
              </a:ext>
            </a:extLst>
          </p:cNvPr>
          <p:cNvSpPr/>
          <p:nvPr/>
        </p:nvSpPr>
        <p:spPr>
          <a:xfrm>
            <a:off x="979713" y="5328331"/>
            <a:ext cx="3581400" cy="3374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402359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8D4E3-19E3-B365-19BD-7E06059A5564}"/>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3ABE23DA-0293-671C-A87B-2899D60D0565}"/>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C8EC83C3-DEAA-3960-FB07-8224AEE558C3}"/>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7</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F74FC6AF-40A3-49C9-F883-E4B12FB8B064}"/>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A8F57B42-59E2-5C0B-6C46-899FE4DBD02E}"/>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0CACF3F-8C5E-F577-41AE-D0BB4773D1F1}"/>
              </a:ext>
            </a:extLst>
          </p:cNvPr>
          <p:cNvSpPr txBox="1"/>
          <p:nvPr/>
        </p:nvSpPr>
        <p:spPr>
          <a:xfrm>
            <a:off x="1101212" y="609600"/>
            <a:ext cx="10383217"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Methodology  | Approach</a:t>
            </a:r>
            <a:endParaRPr lang="el-GR" sz="3200" b="1" dirty="0">
              <a:solidFill>
                <a:srgbClr val="29667D"/>
              </a:solidFill>
              <a:latin typeface="Aptos" panose="020B0004020202020204" pitchFamily="34" charset="0"/>
            </a:endParaRPr>
          </a:p>
        </p:txBody>
      </p:sp>
      <p:sp>
        <p:nvSpPr>
          <p:cNvPr id="2" name="TextBox 1">
            <a:extLst>
              <a:ext uri="{FF2B5EF4-FFF2-40B4-BE49-F238E27FC236}">
                <a16:creationId xmlns:a16="http://schemas.microsoft.com/office/drawing/2014/main" id="{E4765F51-4600-BED6-4951-7F437A2E0B4C}"/>
              </a:ext>
            </a:extLst>
          </p:cNvPr>
          <p:cNvSpPr txBox="1"/>
          <p:nvPr/>
        </p:nvSpPr>
        <p:spPr>
          <a:xfrm>
            <a:off x="676319" y="1323523"/>
            <a:ext cx="10744201" cy="461665"/>
          </a:xfrm>
          <a:prstGeom prst="rect">
            <a:avLst/>
          </a:prstGeom>
          <a:noFill/>
        </p:spPr>
        <p:txBody>
          <a:bodyPr wrap="square" rtlCol="0">
            <a:spAutoFit/>
          </a:bodyPr>
          <a:lstStyle/>
          <a:p>
            <a:pPr algn="ctr"/>
            <a:r>
              <a:rPr lang="en-US" sz="2400" b="1" dirty="0">
                <a:solidFill>
                  <a:srgbClr val="29667D"/>
                </a:solidFill>
                <a:latin typeface="Aptos" panose="020B0004020202020204" pitchFamily="34" charset="0"/>
              </a:rPr>
              <a:t>“</a:t>
            </a:r>
            <a:r>
              <a:rPr lang="en-US" sz="2400" dirty="0">
                <a:solidFill>
                  <a:srgbClr val="29667D"/>
                </a:solidFill>
                <a:latin typeface="Aptos" panose="020B0004020202020204" pitchFamily="34" charset="0"/>
              </a:rPr>
              <a:t>Deep Learning Downscaling as </a:t>
            </a:r>
            <a:r>
              <a:rPr lang="en-US" sz="2400" b="1" dirty="0">
                <a:solidFill>
                  <a:srgbClr val="29667D"/>
                </a:solidFill>
                <a:latin typeface="Aptos" panose="020B0004020202020204" pitchFamily="34" charset="0"/>
              </a:rPr>
              <a:t>Single-Image Super-Resolution (SISR)”</a:t>
            </a:r>
            <a:endParaRPr lang="el-GR" sz="2400" b="1" dirty="0">
              <a:solidFill>
                <a:srgbClr val="29667D"/>
              </a:solidFill>
              <a:latin typeface="Aptos" panose="020B0004020202020204" pitchFamily="34" charset="0"/>
            </a:endParaRPr>
          </a:p>
        </p:txBody>
      </p:sp>
      <p:pic>
        <p:nvPicPr>
          <p:cNvPr id="5" name="Εικόνα 4" descr="Εικόνα που περιέχει πολυχρωμία, τέχνη&#10;&#10;Το περιεχόμενο που δημιουργείται από AI ενδέχεται να είναι εσφαλμένο.">
            <a:extLst>
              <a:ext uri="{FF2B5EF4-FFF2-40B4-BE49-F238E27FC236}">
                <a16:creationId xmlns:a16="http://schemas.microsoft.com/office/drawing/2014/main" id="{D4EC9FCC-D6B9-871B-0C31-055A27F64B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0697" y="3789950"/>
            <a:ext cx="3276884" cy="2179509"/>
          </a:xfrm>
          <a:prstGeom prst="rect">
            <a:avLst/>
          </a:prstGeom>
        </p:spPr>
      </p:pic>
      <p:pic>
        <p:nvPicPr>
          <p:cNvPr id="9" name="Εικόνα 8" descr="Εικόνα που περιέχει παιδική τέχνη, ζωγραφική, νερό, πολυχρωμία&#10;&#10;Το περιεχόμενο που δημιουργείται από AI ενδέχεται να είναι εσφαλμένο.">
            <a:extLst>
              <a:ext uri="{FF2B5EF4-FFF2-40B4-BE49-F238E27FC236}">
                <a16:creationId xmlns:a16="http://schemas.microsoft.com/office/drawing/2014/main" id="{66909E72-CFF5-FB4C-69DF-B0812A0D9B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4419" y="3797571"/>
            <a:ext cx="3276884" cy="2171888"/>
          </a:xfrm>
          <a:prstGeom prst="rect">
            <a:avLst/>
          </a:prstGeom>
        </p:spPr>
      </p:pic>
      <p:sp>
        <p:nvSpPr>
          <p:cNvPr id="10" name="TextBox 9">
            <a:extLst>
              <a:ext uri="{FF2B5EF4-FFF2-40B4-BE49-F238E27FC236}">
                <a16:creationId xmlns:a16="http://schemas.microsoft.com/office/drawing/2014/main" id="{75612433-4FD4-9E6D-BAEA-A33C1C01201B}"/>
              </a:ext>
            </a:extLst>
          </p:cNvPr>
          <p:cNvSpPr txBox="1"/>
          <p:nvPr/>
        </p:nvSpPr>
        <p:spPr>
          <a:xfrm>
            <a:off x="1619182" y="3426889"/>
            <a:ext cx="2579914" cy="338554"/>
          </a:xfrm>
          <a:prstGeom prst="rect">
            <a:avLst/>
          </a:prstGeom>
          <a:noFill/>
        </p:spPr>
        <p:txBody>
          <a:bodyPr wrap="square" rtlCol="0">
            <a:spAutoFit/>
          </a:bodyPr>
          <a:lstStyle/>
          <a:p>
            <a:r>
              <a:rPr lang="el-GR" sz="1600" dirty="0">
                <a:latin typeface="Aptos" panose="020B0004020202020204" pitchFamily="34" charset="0"/>
              </a:rPr>
              <a:t>1° × 1°</a:t>
            </a:r>
            <a:r>
              <a:rPr lang="en-US" sz="1600" dirty="0">
                <a:latin typeface="Aptos" panose="020B0004020202020204" pitchFamily="34" charset="0"/>
              </a:rPr>
              <a:t> ( </a:t>
            </a:r>
            <a:r>
              <a:rPr lang="el-GR" sz="1600" dirty="0"/>
              <a:t>≈</a:t>
            </a:r>
            <a:r>
              <a:rPr lang="en-US" sz="1600" dirty="0"/>
              <a:t> </a:t>
            </a:r>
            <a:r>
              <a:rPr lang="en-US" sz="1600" dirty="0">
                <a:latin typeface="Aptos" panose="020B0004020202020204" pitchFamily="34" charset="0"/>
              </a:rPr>
              <a:t>100km x 100 km)</a:t>
            </a:r>
            <a:endParaRPr lang="el-GR" sz="1600" dirty="0">
              <a:latin typeface="Aptos" panose="020B0004020202020204" pitchFamily="34" charset="0"/>
            </a:endParaRPr>
          </a:p>
        </p:txBody>
      </p:sp>
      <p:sp>
        <p:nvSpPr>
          <p:cNvPr id="16" name="TextBox 15">
            <a:extLst>
              <a:ext uri="{FF2B5EF4-FFF2-40B4-BE49-F238E27FC236}">
                <a16:creationId xmlns:a16="http://schemas.microsoft.com/office/drawing/2014/main" id="{761DA2A8-54B6-8BEF-04CE-C66AFD25B4BE}"/>
              </a:ext>
            </a:extLst>
          </p:cNvPr>
          <p:cNvSpPr txBox="1"/>
          <p:nvPr/>
        </p:nvSpPr>
        <p:spPr>
          <a:xfrm>
            <a:off x="7934421" y="3451396"/>
            <a:ext cx="3145971" cy="338554"/>
          </a:xfrm>
          <a:prstGeom prst="rect">
            <a:avLst/>
          </a:prstGeom>
          <a:noFill/>
        </p:spPr>
        <p:txBody>
          <a:bodyPr wrap="square" rtlCol="0">
            <a:spAutoFit/>
          </a:bodyPr>
          <a:lstStyle/>
          <a:p>
            <a:r>
              <a:rPr lang="en-US" sz="1600" dirty="0">
                <a:latin typeface="Aptos" panose="020B0004020202020204" pitchFamily="34" charset="0"/>
              </a:rPr>
              <a:t>0.25</a:t>
            </a:r>
            <a:r>
              <a:rPr lang="el-GR" sz="1600" dirty="0">
                <a:latin typeface="Aptos" panose="020B0004020202020204" pitchFamily="34" charset="0"/>
              </a:rPr>
              <a:t>° × </a:t>
            </a:r>
            <a:r>
              <a:rPr lang="en-US" sz="1600" dirty="0">
                <a:latin typeface="Aptos" panose="020B0004020202020204" pitchFamily="34" charset="0"/>
              </a:rPr>
              <a:t>0.25</a:t>
            </a:r>
            <a:r>
              <a:rPr lang="el-GR" sz="1600" dirty="0">
                <a:latin typeface="Aptos" panose="020B0004020202020204" pitchFamily="34" charset="0"/>
              </a:rPr>
              <a:t>°</a:t>
            </a:r>
            <a:r>
              <a:rPr lang="en-US" sz="1600" dirty="0">
                <a:latin typeface="Aptos" panose="020B0004020202020204" pitchFamily="34" charset="0"/>
              </a:rPr>
              <a:t> ( </a:t>
            </a:r>
            <a:r>
              <a:rPr lang="el-GR" sz="1600" dirty="0"/>
              <a:t>≈</a:t>
            </a:r>
            <a:r>
              <a:rPr lang="en-US" sz="1600" dirty="0"/>
              <a:t> </a:t>
            </a:r>
            <a:r>
              <a:rPr lang="en-US" sz="1600" dirty="0">
                <a:latin typeface="Aptos" panose="020B0004020202020204" pitchFamily="34" charset="0"/>
              </a:rPr>
              <a:t>25km x 25 km)</a:t>
            </a:r>
            <a:endParaRPr lang="el-GR" sz="1600" dirty="0">
              <a:latin typeface="Aptos" panose="020B0004020202020204" pitchFamily="34" charset="0"/>
            </a:endParaRPr>
          </a:p>
        </p:txBody>
      </p:sp>
      <p:sp>
        <p:nvSpPr>
          <p:cNvPr id="18" name="Βέλος: Ραβδωτό δεξιό 17">
            <a:extLst>
              <a:ext uri="{FF2B5EF4-FFF2-40B4-BE49-F238E27FC236}">
                <a16:creationId xmlns:a16="http://schemas.microsoft.com/office/drawing/2014/main" id="{A56211AA-F102-5C26-05B9-DDCC673AECC3}"/>
              </a:ext>
            </a:extLst>
          </p:cNvPr>
          <p:cNvSpPr/>
          <p:nvPr/>
        </p:nvSpPr>
        <p:spPr>
          <a:xfrm>
            <a:off x="5193890" y="4539711"/>
            <a:ext cx="1709058" cy="587829"/>
          </a:xfrm>
          <a:prstGeom prst="stripedRightArrow">
            <a:avLst/>
          </a:prstGeom>
          <a:solidFill>
            <a:srgbClr val="2F99B4"/>
          </a:solidFill>
          <a:ln w="38100">
            <a:solidFill>
              <a:srgbClr val="2F9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9" name="TextBox 18">
            <a:extLst>
              <a:ext uri="{FF2B5EF4-FFF2-40B4-BE49-F238E27FC236}">
                <a16:creationId xmlns:a16="http://schemas.microsoft.com/office/drawing/2014/main" id="{26529739-6E0A-27DA-1063-351032019FD1}"/>
              </a:ext>
            </a:extLst>
          </p:cNvPr>
          <p:cNvSpPr txBox="1"/>
          <p:nvPr/>
        </p:nvSpPr>
        <p:spPr>
          <a:xfrm>
            <a:off x="1034144" y="2091341"/>
            <a:ext cx="3026229" cy="1354217"/>
          </a:xfrm>
          <a:prstGeom prst="rect">
            <a:avLst/>
          </a:prstGeom>
          <a:noFill/>
        </p:spPr>
        <p:txBody>
          <a:bodyPr wrap="square" rtlCol="0">
            <a:spAutoFit/>
          </a:bodyPr>
          <a:lstStyle/>
          <a:p>
            <a:r>
              <a:rPr lang="en-US" b="1" dirty="0">
                <a:latin typeface="Aptos" panose="020B0004020202020204" pitchFamily="34" charset="0"/>
              </a:rPr>
              <a:t>Interpolation-Based</a:t>
            </a:r>
          </a:p>
          <a:p>
            <a:pPr marL="285750" indent="-285750">
              <a:buFont typeface="Arial" panose="020B0604020202020204" pitchFamily="34" charset="0"/>
              <a:buChar char="•"/>
            </a:pPr>
            <a:r>
              <a:rPr lang="en-US" sz="1600" dirty="0">
                <a:latin typeface="Aptos" panose="020B0004020202020204" pitchFamily="34" charset="0"/>
              </a:rPr>
              <a:t>Bicubic Interpolation</a:t>
            </a:r>
          </a:p>
          <a:p>
            <a:pPr marL="285750" indent="-285750">
              <a:buFont typeface="Arial" panose="020B0604020202020204" pitchFamily="34" charset="0"/>
              <a:buChar char="•"/>
            </a:pPr>
            <a:r>
              <a:rPr lang="en-US" sz="1600" dirty="0">
                <a:latin typeface="Aptos" panose="020B0004020202020204" pitchFamily="34" charset="0"/>
              </a:rPr>
              <a:t>Lanczos resampling</a:t>
            </a:r>
          </a:p>
          <a:p>
            <a:pPr marL="285750" indent="-285750">
              <a:buFont typeface="Arial" panose="020B0604020202020204" pitchFamily="34" charset="0"/>
              <a:buChar char="•"/>
            </a:pPr>
            <a:r>
              <a:rPr lang="en-US" sz="1600" dirty="0">
                <a:latin typeface="Aptos" panose="020B0004020202020204" pitchFamily="34" charset="0"/>
              </a:rPr>
              <a:t>…</a:t>
            </a:r>
          </a:p>
          <a:p>
            <a:endParaRPr lang="el-GR" sz="1600" dirty="0">
              <a:latin typeface="Aptos" panose="020B0004020202020204" pitchFamily="34" charset="0"/>
            </a:endParaRPr>
          </a:p>
        </p:txBody>
      </p:sp>
      <p:sp>
        <p:nvSpPr>
          <p:cNvPr id="20" name="TextBox 19">
            <a:extLst>
              <a:ext uri="{FF2B5EF4-FFF2-40B4-BE49-F238E27FC236}">
                <a16:creationId xmlns:a16="http://schemas.microsoft.com/office/drawing/2014/main" id="{2533EA35-971B-669A-ECA3-8C650B559A39}"/>
              </a:ext>
            </a:extLst>
          </p:cNvPr>
          <p:cNvSpPr txBox="1"/>
          <p:nvPr/>
        </p:nvSpPr>
        <p:spPr>
          <a:xfrm>
            <a:off x="4060373" y="2092795"/>
            <a:ext cx="3363685" cy="1107996"/>
          </a:xfrm>
          <a:prstGeom prst="rect">
            <a:avLst/>
          </a:prstGeom>
          <a:noFill/>
        </p:spPr>
        <p:txBody>
          <a:bodyPr wrap="square" rtlCol="0">
            <a:spAutoFit/>
          </a:bodyPr>
          <a:lstStyle/>
          <a:p>
            <a:r>
              <a:rPr lang="en-US" b="1" dirty="0">
                <a:latin typeface="Aptos" panose="020B0004020202020204" pitchFamily="34" charset="0"/>
              </a:rPr>
              <a:t>Reconstruction-Based</a:t>
            </a:r>
          </a:p>
          <a:p>
            <a:pPr marL="285750" indent="-285750">
              <a:buFont typeface="Arial" panose="020B0604020202020204" pitchFamily="34" charset="0"/>
              <a:buChar char="•"/>
            </a:pPr>
            <a:r>
              <a:rPr lang="en-US" sz="1600" dirty="0">
                <a:latin typeface="Aptos" panose="020B0004020202020204" pitchFamily="34" charset="0"/>
              </a:rPr>
              <a:t>Total Variation (TV) regularization</a:t>
            </a:r>
          </a:p>
          <a:p>
            <a:pPr marL="285750" indent="-285750">
              <a:buFont typeface="Arial" panose="020B0604020202020204" pitchFamily="34" charset="0"/>
              <a:buChar char="•"/>
            </a:pPr>
            <a:r>
              <a:rPr lang="en-US" sz="1600" dirty="0">
                <a:latin typeface="Aptos" panose="020B0004020202020204" pitchFamily="34" charset="0"/>
              </a:rPr>
              <a:t>Gradient Profile Prior</a:t>
            </a:r>
          </a:p>
          <a:p>
            <a:pPr marL="285750" indent="-285750">
              <a:buFont typeface="Arial" panose="020B0604020202020204" pitchFamily="34" charset="0"/>
              <a:buChar char="•"/>
            </a:pPr>
            <a:r>
              <a:rPr lang="en-US" sz="1600" dirty="0">
                <a:latin typeface="Aptos" panose="020B0004020202020204" pitchFamily="34" charset="0"/>
              </a:rPr>
              <a:t>…</a:t>
            </a:r>
            <a:endParaRPr lang="el-GR" sz="1600" dirty="0">
              <a:latin typeface="Aptos" panose="020B0004020202020204" pitchFamily="34" charset="0"/>
            </a:endParaRPr>
          </a:p>
        </p:txBody>
      </p:sp>
      <p:sp>
        <p:nvSpPr>
          <p:cNvPr id="21" name="TextBox 20">
            <a:extLst>
              <a:ext uri="{FF2B5EF4-FFF2-40B4-BE49-F238E27FC236}">
                <a16:creationId xmlns:a16="http://schemas.microsoft.com/office/drawing/2014/main" id="{121EBACB-5B20-2718-0FF5-D250F96109B9}"/>
              </a:ext>
            </a:extLst>
          </p:cNvPr>
          <p:cNvSpPr txBox="1"/>
          <p:nvPr/>
        </p:nvSpPr>
        <p:spPr>
          <a:xfrm>
            <a:off x="7549104" y="2028754"/>
            <a:ext cx="4898571" cy="1354217"/>
          </a:xfrm>
          <a:prstGeom prst="rect">
            <a:avLst/>
          </a:prstGeom>
          <a:noFill/>
        </p:spPr>
        <p:txBody>
          <a:bodyPr wrap="square" rtlCol="0">
            <a:spAutoFit/>
          </a:bodyPr>
          <a:lstStyle/>
          <a:p>
            <a:r>
              <a:rPr lang="en-US" b="1" dirty="0">
                <a:latin typeface="Aptos" panose="020B0004020202020204" pitchFamily="34" charset="0"/>
              </a:rPr>
              <a:t>Deep Learning-Based</a:t>
            </a:r>
          </a:p>
          <a:p>
            <a:pPr marL="285750" indent="-285750">
              <a:buFont typeface="Arial" panose="020B0604020202020204" pitchFamily="34" charset="0"/>
              <a:buChar char="•"/>
            </a:pPr>
            <a:r>
              <a:rPr lang="en-US" sz="1600" dirty="0">
                <a:latin typeface="Aptos" panose="020B0004020202020204" pitchFamily="34" charset="0"/>
              </a:rPr>
              <a:t>Convolutional Neural Networks (CNNs)</a:t>
            </a:r>
          </a:p>
          <a:p>
            <a:pPr marL="285750" indent="-285750">
              <a:buFont typeface="Arial" panose="020B0604020202020204" pitchFamily="34" charset="0"/>
              <a:buChar char="•"/>
            </a:pPr>
            <a:r>
              <a:rPr lang="en-US" sz="1600" dirty="0">
                <a:latin typeface="Aptos" panose="020B0004020202020204" pitchFamily="34" charset="0"/>
              </a:rPr>
              <a:t>Generative Adversarial Networks (GANs)</a:t>
            </a:r>
          </a:p>
          <a:p>
            <a:pPr marL="285750" indent="-285750">
              <a:buFont typeface="Arial" panose="020B0604020202020204" pitchFamily="34" charset="0"/>
              <a:buChar char="•"/>
            </a:pPr>
            <a:r>
              <a:rPr lang="en-US" sz="1600" dirty="0">
                <a:latin typeface="Aptos" panose="020B0004020202020204" pitchFamily="34" charset="0"/>
              </a:rPr>
              <a:t>Transformer</a:t>
            </a:r>
          </a:p>
          <a:p>
            <a:pPr marL="285750" indent="-285750">
              <a:buFont typeface="Arial" panose="020B0604020202020204" pitchFamily="34" charset="0"/>
              <a:buChar char="•"/>
            </a:pPr>
            <a:r>
              <a:rPr lang="en-US" sz="1600" dirty="0">
                <a:latin typeface="Aptos" panose="020B0004020202020204" pitchFamily="34" charset="0"/>
              </a:rPr>
              <a:t>…</a:t>
            </a:r>
            <a:endParaRPr lang="el-GR" dirty="0"/>
          </a:p>
        </p:txBody>
      </p:sp>
      <p:sp>
        <p:nvSpPr>
          <p:cNvPr id="22" name="TextBox 21">
            <a:extLst>
              <a:ext uri="{FF2B5EF4-FFF2-40B4-BE49-F238E27FC236}">
                <a16:creationId xmlns:a16="http://schemas.microsoft.com/office/drawing/2014/main" id="{5005A8A7-B5DE-E98D-2EDC-EDDED8FA745B}"/>
              </a:ext>
            </a:extLst>
          </p:cNvPr>
          <p:cNvSpPr txBox="1"/>
          <p:nvPr/>
        </p:nvSpPr>
        <p:spPr>
          <a:xfrm>
            <a:off x="4963885" y="4071258"/>
            <a:ext cx="2481943" cy="369332"/>
          </a:xfrm>
          <a:prstGeom prst="rect">
            <a:avLst/>
          </a:prstGeom>
          <a:noFill/>
        </p:spPr>
        <p:txBody>
          <a:bodyPr wrap="square" rtlCol="0">
            <a:spAutoFit/>
          </a:bodyPr>
          <a:lstStyle/>
          <a:p>
            <a:r>
              <a:rPr lang="en-US" b="1" dirty="0">
                <a:solidFill>
                  <a:schemeClr val="tx1">
                    <a:lumMod val="65000"/>
                    <a:lumOff val="35000"/>
                  </a:schemeClr>
                </a:solidFill>
                <a:latin typeface="Aptos" panose="020B0004020202020204" pitchFamily="34" charset="0"/>
              </a:rPr>
              <a:t>CNN-based DL model</a:t>
            </a:r>
            <a:endParaRPr lang="el-GR" b="1" dirty="0">
              <a:solidFill>
                <a:schemeClr val="tx1">
                  <a:lumMod val="65000"/>
                  <a:lumOff val="35000"/>
                </a:schemeClr>
              </a:solidFill>
              <a:latin typeface="Aptos" panose="020B0004020202020204" pitchFamily="34" charset="0"/>
            </a:endParaRPr>
          </a:p>
        </p:txBody>
      </p:sp>
      <p:sp>
        <p:nvSpPr>
          <p:cNvPr id="23" name="Ορθογώνιο 22">
            <a:extLst>
              <a:ext uri="{FF2B5EF4-FFF2-40B4-BE49-F238E27FC236}">
                <a16:creationId xmlns:a16="http://schemas.microsoft.com/office/drawing/2014/main" id="{500F7253-E349-1C31-EAD1-EA60EB60F953}"/>
              </a:ext>
            </a:extLst>
          </p:cNvPr>
          <p:cNvSpPr/>
          <p:nvPr/>
        </p:nvSpPr>
        <p:spPr>
          <a:xfrm>
            <a:off x="4865916" y="4082143"/>
            <a:ext cx="2558142" cy="31568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2580767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ECD83-5845-D74C-8700-1FEB5DDC4CD8}"/>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0BD544E6-5DA2-5892-78C1-C8C5BD4A6E3A}"/>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5B9C545B-DD7F-C0DA-FEF7-1297B9B388C0}"/>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8</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A983095E-07D5-B876-2EDB-B5D3541252B8}"/>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E8D00F8F-6A7A-9A3F-384C-D8A522EF8181}"/>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E08EB58-4253-4E90-6346-FD557CC8F2BB}"/>
              </a:ext>
            </a:extLst>
          </p:cNvPr>
          <p:cNvSpPr txBox="1"/>
          <p:nvPr/>
        </p:nvSpPr>
        <p:spPr>
          <a:xfrm>
            <a:off x="1101212" y="609600"/>
            <a:ext cx="11874559"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Methodology  | Dataset &amp; Data pre-processing</a:t>
            </a:r>
            <a:endParaRPr lang="el-GR" sz="3200" b="1" dirty="0">
              <a:solidFill>
                <a:srgbClr val="29667D"/>
              </a:solidFill>
              <a:latin typeface="Aptos" panose="020B0004020202020204" pitchFamily="34" charset="0"/>
            </a:endParaRPr>
          </a:p>
        </p:txBody>
      </p:sp>
      <p:pic>
        <p:nvPicPr>
          <p:cNvPr id="4" name="Εικόνα 3" descr="Εικόνα που περιέχει κείμενο, στιγμιότυπο οθόνης, γραμματοσειρά, αριθμός&#10;&#10;Το περιεχόμενο που δημιουργείται από AI ενδέχεται να είναι εσφαλμένο.">
            <a:extLst>
              <a:ext uri="{FF2B5EF4-FFF2-40B4-BE49-F238E27FC236}">
                <a16:creationId xmlns:a16="http://schemas.microsoft.com/office/drawing/2014/main" id="{3C322592-5C16-2BCE-D909-A8AA8D2BFA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090" y="1456742"/>
            <a:ext cx="4666856" cy="2538314"/>
          </a:xfrm>
          <a:prstGeom prst="rect">
            <a:avLst/>
          </a:prstGeom>
        </p:spPr>
      </p:pic>
      <p:pic>
        <p:nvPicPr>
          <p:cNvPr id="6" name="Εικόνα 5" descr="Εικόνα που περιέχει κείμενο, χάρτης, πλανήτης, σφαίρα&#10;&#10;Το περιεχόμενο που δημιουργείται από AI ενδέχεται να είναι εσφαλμένο.">
            <a:extLst>
              <a:ext uri="{FF2B5EF4-FFF2-40B4-BE49-F238E27FC236}">
                <a16:creationId xmlns:a16="http://schemas.microsoft.com/office/drawing/2014/main" id="{EF9FC730-3565-7EDD-24BE-9F982DEE7700}"/>
              </a:ext>
            </a:extLst>
          </p:cNvPr>
          <p:cNvPicPr>
            <a:picLocks noChangeAspect="1"/>
          </p:cNvPicPr>
          <p:nvPr/>
        </p:nvPicPr>
        <p:blipFill>
          <a:blip r:embed="rId5">
            <a:extLst>
              <a:ext uri="{28A0092B-C50C-407E-A947-70E740481C1C}">
                <a14:useLocalDpi xmlns:a14="http://schemas.microsoft.com/office/drawing/2010/main" val="0"/>
              </a:ext>
            </a:extLst>
          </a:blip>
          <a:srcRect t="11099"/>
          <a:stretch>
            <a:fillRect/>
          </a:stretch>
        </p:blipFill>
        <p:spPr>
          <a:xfrm>
            <a:off x="5311792" y="1507008"/>
            <a:ext cx="3233494" cy="2677886"/>
          </a:xfrm>
          <a:prstGeom prst="rect">
            <a:avLst/>
          </a:prstGeom>
        </p:spPr>
      </p:pic>
      <p:sp>
        <p:nvSpPr>
          <p:cNvPr id="7" name="TextBox 6">
            <a:extLst>
              <a:ext uri="{FF2B5EF4-FFF2-40B4-BE49-F238E27FC236}">
                <a16:creationId xmlns:a16="http://schemas.microsoft.com/office/drawing/2014/main" id="{651613F4-4AE5-DF62-08D5-139B8EB76EE0}"/>
              </a:ext>
            </a:extLst>
          </p:cNvPr>
          <p:cNvSpPr txBox="1"/>
          <p:nvPr/>
        </p:nvSpPr>
        <p:spPr>
          <a:xfrm>
            <a:off x="2699658" y="4019293"/>
            <a:ext cx="4201885" cy="307777"/>
          </a:xfrm>
          <a:prstGeom prst="rect">
            <a:avLst/>
          </a:prstGeom>
          <a:noFill/>
        </p:spPr>
        <p:txBody>
          <a:bodyPr wrap="square" rtlCol="0">
            <a:spAutoFit/>
          </a:bodyPr>
          <a:lstStyle/>
          <a:p>
            <a:r>
              <a:rPr lang="en-US" sz="1400" b="1" dirty="0">
                <a:solidFill>
                  <a:schemeClr val="tx1">
                    <a:lumMod val="65000"/>
                    <a:lumOff val="35000"/>
                  </a:schemeClr>
                </a:solidFill>
                <a:latin typeface="Aptos" panose="020B0004020202020204" pitchFamily="34" charset="0"/>
              </a:rPr>
              <a:t>ERA5 reanalysis Data description </a:t>
            </a:r>
            <a:r>
              <a:rPr lang="en-US" sz="1400" b="1" baseline="30000" dirty="0">
                <a:solidFill>
                  <a:schemeClr val="tx1">
                    <a:lumMod val="65000"/>
                    <a:lumOff val="35000"/>
                  </a:schemeClr>
                </a:solidFill>
                <a:latin typeface="Aptos" panose="020B0004020202020204" pitchFamily="34" charset="0"/>
              </a:rPr>
              <a:t>5</a:t>
            </a:r>
            <a:r>
              <a:rPr lang="en-US" sz="1400" b="1" dirty="0">
                <a:solidFill>
                  <a:schemeClr val="tx1">
                    <a:lumMod val="65000"/>
                    <a:lumOff val="35000"/>
                  </a:schemeClr>
                </a:solidFill>
                <a:latin typeface="Aptos" panose="020B0004020202020204" pitchFamily="34" charset="0"/>
              </a:rPr>
              <a:t> </a:t>
            </a:r>
            <a:endParaRPr lang="el-GR" sz="1400" b="1" dirty="0">
              <a:solidFill>
                <a:schemeClr val="tx1">
                  <a:lumMod val="65000"/>
                  <a:lumOff val="35000"/>
                </a:schemeClr>
              </a:solidFill>
              <a:latin typeface="Aptos" panose="020B0004020202020204" pitchFamily="34" charset="0"/>
            </a:endParaRPr>
          </a:p>
        </p:txBody>
      </p:sp>
      <p:sp>
        <p:nvSpPr>
          <p:cNvPr id="8" name="TextBox 7">
            <a:extLst>
              <a:ext uri="{FF2B5EF4-FFF2-40B4-BE49-F238E27FC236}">
                <a16:creationId xmlns:a16="http://schemas.microsoft.com/office/drawing/2014/main" id="{2589955C-E8F2-1038-0789-63EB05F70D35}"/>
              </a:ext>
            </a:extLst>
          </p:cNvPr>
          <p:cNvSpPr txBox="1"/>
          <p:nvPr/>
        </p:nvSpPr>
        <p:spPr>
          <a:xfrm>
            <a:off x="533398" y="4659086"/>
            <a:ext cx="7064830" cy="1077218"/>
          </a:xfrm>
          <a:prstGeom prst="rect">
            <a:avLst/>
          </a:prstGeom>
          <a:noFill/>
        </p:spPr>
        <p:txBody>
          <a:bodyPr wrap="square" rtlCol="0">
            <a:spAutoFit/>
          </a:bodyPr>
          <a:lstStyle/>
          <a:p>
            <a:pPr marL="285750" indent="-285750">
              <a:buFont typeface="Arial" panose="020B0604020202020204" pitchFamily="34" charset="0"/>
              <a:buChar char="•"/>
            </a:pPr>
            <a:r>
              <a:rPr lang="fr-FR" sz="1600" b="1" dirty="0">
                <a:latin typeface="Aptos" panose="020B0004020202020204" pitchFamily="34" charset="0"/>
              </a:rPr>
              <a:t>Variable:</a:t>
            </a:r>
            <a:r>
              <a:rPr lang="fr-FR" sz="1600" dirty="0">
                <a:latin typeface="Aptos" panose="020B0004020202020204" pitchFamily="34" charset="0"/>
              </a:rPr>
              <a:t> 2-meter air temperature (T2m)</a:t>
            </a:r>
            <a:endParaRPr lang="en-US" sz="1600" dirty="0">
              <a:latin typeface="Aptos" panose="020B0004020202020204" pitchFamily="34" charset="0"/>
            </a:endParaRPr>
          </a:p>
          <a:p>
            <a:pPr marL="285750" indent="-285750">
              <a:buFont typeface="Arial" panose="020B0604020202020204" pitchFamily="34" charset="0"/>
              <a:buChar char="•"/>
            </a:pPr>
            <a:r>
              <a:rPr lang="en-US" sz="1600" b="1" dirty="0">
                <a:latin typeface="Aptos" panose="020B0004020202020204" pitchFamily="34" charset="0"/>
              </a:rPr>
              <a:t>Period:</a:t>
            </a:r>
            <a:r>
              <a:rPr lang="en-US" sz="1600" dirty="0">
                <a:latin typeface="Aptos" panose="020B0004020202020204" pitchFamily="34" charset="0"/>
              </a:rPr>
              <a:t> 2000 – 2020</a:t>
            </a:r>
          </a:p>
          <a:p>
            <a:pPr marL="285750" indent="-285750">
              <a:buFont typeface="Arial" panose="020B0604020202020204" pitchFamily="34" charset="0"/>
              <a:buChar char="•"/>
            </a:pPr>
            <a:r>
              <a:rPr lang="en-US" sz="1600" b="1" dirty="0">
                <a:latin typeface="Aptos" panose="020B0004020202020204" pitchFamily="34" charset="0"/>
              </a:rPr>
              <a:t>Temporal resolution:</a:t>
            </a:r>
            <a:r>
              <a:rPr lang="en-US" sz="1600" dirty="0">
                <a:latin typeface="Aptos" panose="020B0004020202020204" pitchFamily="34" charset="0"/>
              </a:rPr>
              <a:t> 6-hourly (00:00, 06:00, 12:00, 18:00 UTC)</a:t>
            </a:r>
          </a:p>
          <a:p>
            <a:pPr marL="285750" indent="-285750">
              <a:buFont typeface="Arial" panose="020B0604020202020204" pitchFamily="34" charset="0"/>
              <a:buChar char="•"/>
            </a:pPr>
            <a:r>
              <a:rPr lang="en-US" sz="1600" b="1" dirty="0">
                <a:latin typeface="Aptos" panose="020B0004020202020204" pitchFamily="34" charset="0"/>
              </a:rPr>
              <a:t>Spatial domain:</a:t>
            </a:r>
            <a:r>
              <a:rPr lang="en-US" sz="1600" dirty="0">
                <a:latin typeface="Aptos" panose="020B0004020202020204" pitchFamily="34" charset="0"/>
              </a:rPr>
              <a:t> Latitude </a:t>
            </a:r>
            <a:r>
              <a:rPr lang="en-US" sz="1600" b="1" dirty="0">
                <a:latin typeface="Aptos" panose="020B0004020202020204" pitchFamily="34" charset="0"/>
              </a:rPr>
              <a:t>80° N to 0°</a:t>
            </a:r>
            <a:r>
              <a:rPr lang="en-US" sz="1600" dirty="0">
                <a:latin typeface="Aptos" panose="020B0004020202020204" pitchFamily="34" charset="0"/>
              </a:rPr>
              <a:t>, Longitude </a:t>
            </a:r>
            <a:r>
              <a:rPr lang="en-US" sz="1600" b="1" dirty="0">
                <a:latin typeface="Aptos" panose="020B0004020202020204" pitchFamily="34" charset="0"/>
              </a:rPr>
              <a:t>60° W to 85° E</a:t>
            </a:r>
            <a:endParaRPr lang="el-GR" sz="1600" dirty="0">
              <a:latin typeface="Aptos" panose="020B0004020202020204" pitchFamily="34" charset="0"/>
            </a:endParaRPr>
          </a:p>
        </p:txBody>
      </p:sp>
      <p:sp>
        <p:nvSpPr>
          <p:cNvPr id="16" name="TextBox 15">
            <a:extLst>
              <a:ext uri="{FF2B5EF4-FFF2-40B4-BE49-F238E27FC236}">
                <a16:creationId xmlns:a16="http://schemas.microsoft.com/office/drawing/2014/main" id="{32E08D94-3AD0-C8ED-B9C4-6BEA806D6A83}"/>
              </a:ext>
            </a:extLst>
          </p:cNvPr>
          <p:cNvSpPr txBox="1"/>
          <p:nvPr/>
        </p:nvSpPr>
        <p:spPr>
          <a:xfrm>
            <a:off x="8196943" y="1513873"/>
            <a:ext cx="3918857" cy="2508379"/>
          </a:xfrm>
          <a:prstGeom prst="rect">
            <a:avLst/>
          </a:prstGeom>
          <a:noFill/>
        </p:spPr>
        <p:txBody>
          <a:bodyPr wrap="square" rtlCol="0">
            <a:spAutoFit/>
          </a:bodyPr>
          <a:lstStyle/>
          <a:p>
            <a:r>
              <a:rPr lang="en-US" b="1" dirty="0">
                <a:solidFill>
                  <a:schemeClr val="tx1">
                    <a:lumMod val="65000"/>
                    <a:lumOff val="35000"/>
                  </a:schemeClr>
                </a:solidFill>
                <a:latin typeface="Aptos" panose="020B0004020202020204" pitchFamily="34" charset="0"/>
              </a:rPr>
              <a:t>Pre-Processing Steps</a:t>
            </a:r>
          </a:p>
          <a:p>
            <a:endParaRPr lang="en-US" sz="1100" b="1" dirty="0">
              <a:solidFill>
                <a:schemeClr val="tx1">
                  <a:lumMod val="65000"/>
                  <a:lumOff val="35000"/>
                </a:schemeClr>
              </a:solidFill>
              <a:latin typeface="Aptos" panose="020B0004020202020204" pitchFamily="34" charset="0"/>
            </a:endParaRPr>
          </a:p>
          <a:p>
            <a:pPr marL="342900" indent="-342900">
              <a:buFont typeface="+mj-lt"/>
              <a:buAutoNum type="arabicPeriod"/>
            </a:pPr>
            <a:r>
              <a:rPr lang="en-US" sz="1600" b="1" dirty="0">
                <a:latin typeface="Aptos" panose="020B0004020202020204" pitchFamily="34" charset="0"/>
              </a:rPr>
              <a:t>Upscaling:</a:t>
            </a:r>
            <a:r>
              <a:rPr lang="en-US" sz="1600" dirty="0">
                <a:latin typeface="Aptos" panose="020B0004020202020204" pitchFamily="34" charset="0"/>
              </a:rPr>
              <a:t> Bicubic interpolation to match target resolution</a:t>
            </a:r>
          </a:p>
          <a:p>
            <a:pPr marL="342900" indent="-342900">
              <a:buFont typeface="+mj-lt"/>
              <a:buAutoNum type="arabicPeriod"/>
            </a:pPr>
            <a:r>
              <a:rPr lang="en-US" sz="1600" b="1" dirty="0">
                <a:latin typeface="Aptos" panose="020B0004020202020204" pitchFamily="34" charset="0"/>
              </a:rPr>
              <a:t>Normalization:</a:t>
            </a:r>
            <a:r>
              <a:rPr lang="en-US" sz="1600" dirty="0">
                <a:latin typeface="Aptos" panose="020B0004020202020204" pitchFamily="34" charset="0"/>
              </a:rPr>
              <a:t> Z-score standardization</a:t>
            </a:r>
          </a:p>
          <a:p>
            <a:pPr marL="342900" indent="-342900">
              <a:buFont typeface="+mj-lt"/>
              <a:buAutoNum type="arabicPeriod"/>
            </a:pPr>
            <a:r>
              <a:rPr lang="en-US" sz="1600" b="1" dirty="0">
                <a:latin typeface="Aptos" panose="020B0004020202020204" pitchFamily="34" charset="0"/>
              </a:rPr>
              <a:t>Shuffling:</a:t>
            </a:r>
            <a:r>
              <a:rPr lang="en-US" sz="1600" dirty="0">
                <a:latin typeface="Aptos" panose="020B0004020202020204" pitchFamily="34" charset="0"/>
              </a:rPr>
              <a:t> Randomize data order to remove temporal bias</a:t>
            </a:r>
          </a:p>
          <a:p>
            <a:pPr marL="342900" indent="-342900">
              <a:buFont typeface="+mj-lt"/>
              <a:buAutoNum type="arabicPeriod"/>
            </a:pPr>
            <a:r>
              <a:rPr lang="en-US" sz="1600" b="1" dirty="0">
                <a:latin typeface="Aptos" panose="020B0004020202020204" pitchFamily="34" charset="0"/>
              </a:rPr>
              <a:t>Splitting:</a:t>
            </a:r>
            <a:r>
              <a:rPr lang="en-US" sz="1600" dirty="0">
                <a:latin typeface="Aptos" panose="020B0004020202020204" pitchFamily="34" charset="0"/>
              </a:rPr>
              <a:t> 70% training, 15% validation, 15% testing</a:t>
            </a:r>
            <a:endParaRPr lang="el-GR" sz="1600" dirty="0">
              <a:latin typeface="Aptos" panose="020B0004020202020204" pitchFamily="34" charset="0"/>
            </a:endParaRPr>
          </a:p>
        </p:txBody>
      </p:sp>
      <p:sp>
        <p:nvSpPr>
          <p:cNvPr id="18" name="TextBox 17">
            <a:extLst>
              <a:ext uri="{FF2B5EF4-FFF2-40B4-BE49-F238E27FC236}">
                <a16:creationId xmlns:a16="http://schemas.microsoft.com/office/drawing/2014/main" id="{943E5FCF-BDD2-397B-181B-61B73FD42001}"/>
              </a:ext>
            </a:extLst>
          </p:cNvPr>
          <p:cNvSpPr txBox="1"/>
          <p:nvPr/>
        </p:nvSpPr>
        <p:spPr>
          <a:xfrm>
            <a:off x="6901543" y="4743399"/>
            <a:ext cx="5018315" cy="830997"/>
          </a:xfrm>
          <a:prstGeom prst="rect">
            <a:avLst/>
          </a:prstGeom>
          <a:noFill/>
        </p:spPr>
        <p:txBody>
          <a:bodyPr wrap="square" rtlCol="0">
            <a:spAutoFit/>
          </a:bodyPr>
          <a:lstStyle/>
          <a:p>
            <a:r>
              <a:rPr lang="en-US" sz="2400" b="1" dirty="0">
                <a:solidFill>
                  <a:srgbClr val="29667D"/>
                </a:solidFill>
                <a:latin typeface="Aptos" panose="020B0004020202020204" pitchFamily="34" charset="0"/>
              </a:rPr>
              <a:t>“A model-agnostic input approach with no model or temporal bias.”</a:t>
            </a:r>
            <a:endParaRPr lang="el-GR" sz="2400" b="1" dirty="0">
              <a:solidFill>
                <a:srgbClr val="29667D"/>
              </a:solidFill>
              <a:latin typeface="Aptos" panose="020B0004020202020204" pitchFamily="34" charset="0"/>
            </a:endParaRPr>
          </a:p>
        </p:txBody>
      </p:sp>
    </p:spTree>
    <p:extLst>
      <p:ext uri="{BB962C8B-B14F-4D97-AF65-F5344CB8AC3E}">
        <p14:creationId xmlns:p14="http://schemas.microsoft.com/office/powerpoint/2010/main" val="13941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EA1B3-1ED9-85CE-803E-BCF82F163342}"/>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B0B12080-0DBD-D0DC-B1EE-6FC3D74A13F8}"/>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3A7E0744-0476-3AE6-FA1F-DEE8D45491FD}"/>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9</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B972DC83-C818-9D9A-AAD5-8612EFF22C18}"/>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DA6087AD-C105-8869-0E3F-74DCCCD6370B}"/>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746CCD5-109D-1CF5-FADC-4A5BABC8395B}"/>
              </a:ext>
            </a:extLst>
          </p:cNvPr>
          <p:cNvSpPr txBox="1"/>
          <p:nvPr/>
        </p:nvSpPr>
        <p:spPr>
          <a:xfrm>
            <a:off x="1101212" y="609600"/>
            <a:ext cx="9501474"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Methodology  | Metrics</a:t>
            </a:r>
            <a:endParaRPr lang="el-GR" sz="3200" b="1" dirty="0">
              <a:solidFill>
                <a:srgbClr val="29667D"/>
              </a:solidFill>
              <a:latin typeface="Aptos" panose="020B0004020202020204" pitchFamily="34" charset="0"/>
            </a:endParaRPr>
          </a:p>
        </p:txBody>
      </p:sp>
      <p:sp>
        <p:nvSpPr>
          <p:cNvPr id="2" name="TextBox 1">
            <a:extLst>
              <a:ext uri="{FF2B5EF4-FFF2-40B4-BE49-F238E27FC236}">
                <a16:creationId xmlns:a16="http://schemas.microsoft.com/office/drawing/2014/main" id="{CB101D27-A01A-F75D-5F44-47E522FBDDD9}"/>
              </a:ext>
            </a:extLst>
          </p:cNvPr>
          <p:cNvSpPr txBox="1"/>
          <p:nvPr/>
        </p:nvSpPr>
        <p:spPr>
          <a:xfrm>
            <a:off x="1566551" y="1523687"/>
            <a:ext cx="3156858" cy="369332"/>
          </a:xfrm>
          <a:prstGeom prst="rect">
            <a:avLst/>
          </a:prstGeom>
          <a:noFill/>
        </p:spPr>
        <p:txBody>
          <a:bodyPr wrap="square" rtlCol="0">
            <a:spAutoFit/>
          </a:bodyPr>
          <a:lstStyle/>
          <a:p>
            <a:r>
              <a:rPr lang="en-US" b="1" dirty="0">
                <a:solidFill>
                  <a:srgbClr val="29667D"/>
                </a:solidFill>
                <a:latin typeface="Aptos" panose="020B0004020202020204" pitchFamily="34" charset="0"/>
              </a:rPr>
              <a:t>Mean Squared Error (MSE)</a:t>
            </a:r>
            <a:endParaRPr lang="el-GR" b="1" dirty="0">
              <a:solidFill>
                <a:srgbClr val="29667D"/>
              </a:solidFill>
              <a:latin typeface="Aptos" panose="020B0004020202020204" pitchFamily="34" charset="0"/>
            </a:endParaRPr>
          </a:p>
        </p:txBody>
      </p:sp>
      <p:sp>
        <p:nvSpPr>
          <p:cNvPr id="4" name="TextBox 3">
            <a:extLst>
              <a:ext uri="{FF2B5EF4-FFF2-40B4-BE49-F238E27FC236}">
                <a16:creationId xmlns:a16="http://schemas.microsoft.com/office/drawing/2014/main" id="{17A91D5A-4A4E-27DA-C4A0-BA07473E9590}"/>
              </a:ext>
            </a:extLst>
          </p:cNvPr>
          <p:cNvSpPr txBox="1"/>
          <p:nvPr/>
        </p:nvSpPr>
        <p:spPr>
          <a:xfrm>
            <a:off x="7468593" y="1513873"/>
            <a:ext cx="3178628" cy="369332"/>
          </a:xfrm>
          <a:prstGeom prst="rect">
            <a:avLst/>
          </a:prstGeom>
          <a:noFill/>
        </p:spPr>
        <p:txBody>
          <a:bodyPr wrap="square" rtlCol="0">
            <a:spAutoFit/>
          </a:bodyPr>
          <a:lstStyle/>
          <a:p>
            <a:r>
              <a:rPr lang="en-US" b="1" dirty="0">
                <a:solidFill>
                  <a:srgbClr val="29667D"/>
                </a:solidFill>
                <a:latin typeface="Aptos" panose="020B0004020202020204" pitchFamily="34" charset="0"/>
              </a:rPr>
              <a:t>Mean Absolute Error (MAE)</a:t>
            </a:r>
            <a:endParaRPr lang="el-GR" b="1" dirty="0">
              <a:solidFill>
                <a:srgbClr val="29667D"/>
              </a:solidFill>
              <a:latin typeface="Aptos" panose="020B0004020202020204" pitchFamily="34" charset="0"/>
            </a:endParaRPr>
          </a:p>
        </p:txBody>
      </p:sp>
      <p:sp>
        <p:nvSpPr>
          <p:cNvPr id="5" name="TextBox 4">
            <a:extLst>
              <a:ext uri="{FF2B5EF4-FFF2-40B4-BE49-F238E27FC236}">
                <a16:creationId xmlns:a16="http://schemas.microsoft.com/office/drawing/2014/main" id="{5E8DF665-7E5B-C1AC-B65A-0FBB42B43CDF}"/>
              </a:ext>
            </a:extLst>
          </p:cNvPr>
          <p:cNvSpPr txBox="1"/>
          <p:nvPr/>
        </p:nvSpPr>
        <p:spPr>
          <a:xfrm>
            <a:off x="1251857" y="3211285"/>
            <a:ext cx="3962400" cy="369332"/>
          </a:xfrm>
          <a:prstGeom prst="rect">
            <a:avLst/>
          </a:prstGeom>
          <a:noFill/>
        </p:spPr>
        <p:txBody>
          <a:bodyPr wrap="square" rtlCol="0">
            <a:spAutoFit/>
          </a:bodyPr>
          <a:lstStyle/>
          <a:p>
            <a:r>
              <a:rPr lang="en-US" b="1" dirty="0">
                <a:solidFill>
                  <a:srgbClr val="29667D"/>
                </a:solidFill>
                <a:latin typeface="Aptos" panose="020B0004020202020204" pitchFamily="34" charset="0"/>
              </a:rPr>
              <a:t>Peak Signal-to-Noise Ratio (PSNR)</a:t>
            </a:r>
            <a:endParaRPr lang="el-GR" b="1" dirty="0">
              <a:solidFill>
                <a:srgbClr val="29667D"/>
              </a:solidFill>
              <a:latin typeface="Aptos" panose="020B0004020202020204" pitchFamily="34" charset="0"/>
            </a:endParaRPr>
          </a:p>
        </p:txBody>
      </p:sp>
      <p:sp>
        <p:nvSpPr>
          <p:cNvPr id="6" name="TextBox 5">
            <a:extLst>
              <a:ext uri="{FF2B5EF4-FFF2-40B4-BE49-F238E27FC236}">
                <a16:creationId xmlns:a16="http://schemas.microsoft.com/office/drawing/2014/main" id="{C119D627-02DF-7208-1848-FCA85C2E1A5F}"/>
              </a:ext>
            </a:extLst>
          </p:cNvPr>
          <p:cNvSpPr txBox="1"/>
          <p:nvPr/>
        </p:nvSpPr>
        <p:spPr>
          <a:xfrm>
            <a:off x="6672943" y="3222172"/>
            <a:ext cx="4680858" cy="369332"/>
          </a:xfrm>
          <a:prstGeom prst="rect">
            <a:avLst/>
          </a:prstGeom>
          <a:noFill/>
        </p:spPr>
        <p:txBody>
          <a:bodyPr wrap="square" rtlCol="0">
            <a:spAutoFit/>
          </a:bodyPr>
          <a:lstStyle/>
          <a:p>
            <a:r>
              <a:rPr lang="en-US" b="1" dirty="0">
                <a:solidFill>
                  <a:srgbClr val="29667D"/>
                </a:solidFill>
                <a:latin typeface="Aptos" panose="020B0004020202020204" pitchFamily="34" charset="0"/>
              </a:rPr>
              <a:t>Structural Similarity Index Measure (SSIM)</a:t>
            </a:r>
            <a:endParaRPr lang="el-GR" b="1" dirty="0">
              <a:solidFill>
                <a:srgbClr val="29667D"/>
              </a:solidFill>
              <a:latin typeface="Aptos" panose="020B0004020202020204" pitchFamily="34" charset="0"/>
            </a:endParaRPr>
          </a:p>
        </p:txBody>
      </p:sp>
      <p:pic>
        <p:nvPicPr>
          <p:cNvPr id="10" name="Εικόνα 9" descr="Εικόνα που περιέχει γραμματοσειρά, κείμενο, διάγραμμα, λευκό&#10;&#10;Το περιεχόμενο που δημιουργείται από AI ενδέχεται να είναι εσφαλμένο.">
            <a:extLst>
              <a:ext uri="{FF2B5EF4-FFF2-40B4-BE49-F238E27FC236}">
                <a16:creationId xmlns:a16="http://schemas.microsoft.com/office/drawing/2014/main" id="{A9C29FE4-7C3F-8736-1855-6A1FBD05B5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1804" y="2008845"/>
            <a:ext cx="3046352" cy="957425"/>
          </a:xfrm>
          <a:prstGeom prst="rect">
            <a:avLst/>
          </a:prstGeom>
        </p:spPr>
      </p:pic>
      <p:pic>
        <p:nvPicPr>
          <p:cNvPr id="17" name="Εικόνα 16" descr="Εικόνα που περιέχει γραμματοσειρά, λευκό, διάγραμμα, κείμενο&#10;&#10;Το περιεχόμενο που δημιουργείται από AI ενδέχεται να είναι εσφαλμένο.">
            <a:extLst>
              <a:ext uri="{FF2B5EF4-FFF2-40B4-BE49-F238E27FC236}">
                <a16:creationId xmlns:a16="http://schemas.microsoft.com/office/drawing/2014/main" id="{DBC2F038-F912-A760-41AB-EF22740277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68593" y="2030680"/>
            <a:ext cx="2991148" cy="1005323"/>
          </a:xfrm>
          <a:prstGeom prst="rect">
            <a:avLst/>
          </a:prstGeom>
        </p:spPr>
      </p:pic>
      <p:pic>
        <p:nvPicPr>
          <p:cNvPr id="19" name="Εικόνα 18" descr="Εικόνα που περιέχει γραμματοσειρά, κείμενο, λευκό, σχεδίαση&#10;&#10;Το περιεχόμενο που δημιουργείται από AI ενδέχεται να είναι εσφαλμένο.">
            <a:extLst>
              <a:ext uri="{FF2B5EF4-FFF2-40B4-BE49-F238E27FC236}">
                <a16:creationId xmlns:a16="http://schemas.microsoft.com/office/drawing/2014/main" id="{0265FBF3-7D46-CC7A-B4A7-C2CD511A9A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96112" y="3520691"/>
            <a:ext cx="3897735" cy="1037787"/>
          </a:xfrm>
          <a:prstGeom prst="rect">
            <a:avLst/>
          </a:prstGeom>
        </p:spPr>
      </p:pic>
      <p:pic>
        <p:nvPicPr>
          <p:cNvPr id="21" name="Εικόνα 20" descr="Εικόνα που περιέχει γραμματοσειρά, κείμενο, καλλιγραφία, τυπογραφία&#10;&#10;Το περιεχόμενο που δημιουργείται από AI ενδέχεται να είναι εσφαλμένο.">
            <a:extLst>
              <a:ext uri="{FF2B5EF4-FFF2-40B4-BE49-F238E27FC236}">
                <a16:creationId xmlns:a16="http://schemas.microsoft.com/office/drawing/2014/main" id="{DEB003BD-FCFF-B752-88C1-0887417757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83035" y="3615763"/>
            <a:ext cx="4540579" cy="590478"/>
          </a:xfrm>
          <a:prstGeom prst="rect">
            <a:avLst/>
          </a:prstGeom>
        </p:spPr>
      </p:pic>
      <p:sp>
        <p:nvSpPr>
          <p:cNvPr id="23" name="TextBox 22">
            <a:extLst>
              <a:ext uri="{FF2B5EF4-FFF2-40B4-BE49-F238E27FC236}">
                <a16:creationId xmlns:a16="http://schemas.microsoft.com/office/drawing/2014/main" id="{27DAE563-A33E-EF66-E13A-E9EAD8A38508}"/>
              </a:ext>
            </a:extLst>
          </p:cNvPr>
          <p:cNvSpPr txBox="1"/>
          <p:nvPr/>
        </p:nvSpPr>
        <p:spPr>
          <a:xfrm>
            <a:off x="2645231" y="5018423"/>
            <a:ext cx="1458686" cy="369332"/>
          </a:xfrm>
          <a:prstGeom prst="rect">
            <a:avLst/>
          </a:prstGeom>
          <a:noFill/>
        </p:spPr>
        <p:txBody>
          <a:bodyPr wrap="square" rtlCol="0">
            <a:spAutoFit/>
          </a:bodyPr>
          <a:lstStyle/>
          <a:p>
            <a:r>
              <a:rPr lang="en-US" b="1" dirty="0">
                <a:solidFill>
                  <a:srgbClr val="29667D"/>
                </a:solidFill>
                <a:latin typeface="Aptos" panose="020B0004020202020204" pitchFamily="34" charset="0"/>
              </a:rPr>
              <a:t>Land MAE</a:t>
            </a:r>
            <a:endParaRPr lang="el-GR" b="1" dirty="0">
              <a:solidFill>
                <a:srgbClr val="29667D"/>
              </a:solidFill>
              <a:latin typeface="Aptos" panose="020B0004020202020204" pitchFamily="34" charset="0"/>
            </a:endParaRPr>
          </a:p>
        </p:txBody>
      </p:sp>
      <p:sp>
        <p:nvSpPr>
          <p:cNvPr id="24" name="TextBox 23">
            <a:extLst>
              <a:ext uri="{FF2B5EF4-FFF2-40B4-BE49-F238E27FC236}">
                <a16:creationId xmlns:a16="http://schemas.microsoft.com/office/drawing/2014/main" id="{AAE74837-DB1D-ADBF-4BBE-5D9B63DA170F}"/>
              </a:ext>
            </a:extLst>
          </p:cNvPr>
          <p:cNvSpPr txBox="1"/>
          <p:nvPr/>
        </p:nvSpPr>
        <p:spPr>
          <a:xfrm>
            <a:off x="8294914" y="5018423"/>
            <a:ext cx="1937657" cy="369332"/>
          </a:xfrm>
          <a:prstGeom prst="rect">
            <a:avLst/>
          </a:prstGeom>
          <a:noFill/>
        </p:spPr>
        <p:txBody>
          <a:bodyPr wrap="square" rtlCol="0">
            <a:spAutoFit/>
          </a:bodyPr>
          <a:lstStyle/>
          <a:p>
            <a:r>
              <a:rPr lang="en-US" b="1" dirty="0">
                <a:solidFill>
                  <a:srgbClr val="29667D"/>
                </a:solidFill>
                <a:latin typeface="Aptos" panose="020B0004020202020204" pitchFamily="34" charset="0"/>
              </a:rPr>
              <a:t>Land MAE in °C</a:t>
            </a:r>
            <a:endParaRPr lang="el-GR" b="1" dirty="0">
              <a:solidFill>
                <a:srgbClr val="29667D"/>
              </a:solidFill>
              <a:latin typeface="Aptos" panose="020B0004020202020204" pitchFamily="34" charset="0"/>
            </a:endParaRPr>
          </a:p>
        </p:txBody>
      </p:sp>
      <p:pic>
        <p:nvPicPr>
          <p:cNvPr id="26" name="Εικόνα 25" descr="Εικόνα που περιέχει ασπρόμαυρο, χάρτης&#10;&#10;Το περιεχόμενο που δημιουργείται από AI ενδέχεται να είναι εσφαλμένο.">
            <a:extLst>
              <a:ext uri="{FF2B5EF4-FFF2-40B4-BE49-F238E27FC236}">
                <a16:creationId xmlns:a16="http://schemas.microsoft.com/office/drawing/2014/main" id="{96B16DB5-9A3D-9657-CE9E-6CE1A11FAA8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81101" y="4354269"/>
            <a:ext cx="3147233" cy="1729183"/>
          </a:xfrm>
          <a:prstGeom prst="rect">
            <a:avLst/>
          </a:prstGeom>
        </p:spPr>
      </p:pic>
    </p:spTree>
    <p:extLst>
      <p:ext uri="{BB962C8B-B14F-4D97-AF65-F5344CB8AC3E}">
        <p14:creationId xmlns:p14="http://schemas.microsoft.com/office/powerpoint/2010/main" val="2556690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C1A18-03DB-8BF6-EE5B-CE3908428B69}"/>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5DA123B2-14B7-8716-8A81-1B087F836AC9}"/>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B5921326-BE7D-3AF3-AD15-F53FCED6F6C1}"/>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10</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FDFEBDF6-640A-0973-CC1D-52EA02F37003}"/>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FACD3EEF-EFFA-2F18-C8F5-F24F61FE18BA}"/>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7D82635-BD8F-2328-E647-4C70C45E4037}"/>
              </a:ext>
            </a:extLst>
          </p:cNvPr>
          <p:cNvSpPr txBox="1"/>
          <p:nvPr/>
        </p:nvSpPr>
        <p:spPr>
          <a:xfrm>
            <a:off x="1101212" y="609600"/>
            <a:ext cx="10709788"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Methodology  | Training &amp; validation strategy</a:t>
            </a:r>
            <a:endParaRPr lang="el-GR" sz="3200" b="1" dirty="0">
              <a:solidFill>
                <a:srgbClr val="29667D"/>
              </a:solidFill>
              <a:latin typeface="Aptos" panose="020B0004020202020204" pitchFamily="34" charset="0"/>
            </a:endParaRPr>
          </a:p>
        </p:txBody>
      </p:sp>
      <p:sp>
        <p:nvSpPr>
          <p:cNvPr id="2" name="TextBox 1">
            <a:extLst>
              <a:ext uri="{FF2B5EF4-FFF2-40B4-BE49-F238E27FC236}">
                <a16:creationId xmlns:a16="http://schemas.microsoft.com/office/drawing/2014/main" id="{65F788DA-7F5B-30AC-8F44-4B098425ACD7}"/>
              </a:ext>
            </a:extLst>
          </p:cNvPr>
          <p:cNvSpPr txBox="1"/>
          <p:nvPr/>
        </p:nvSpPr>
        <p:spPr>
          <a:xfrm>
            <a:off x="1284514" y="1469572"/>
            <a:ext cx="9818914" cy="4524315"/>
          </a:xfrm>
          <a:prstGeom prst="rect">
            <a:avLst/>
          </a:prstGeom>
          <a:noFill/>
        </p:spPr>
        <p:txBody>
          <a:bodyPr wrap="square" rtlCol="0">
            <a:spAutoFit/>
          </a:bodyPr>
          <a:lstStyle/>
          <a:p>
            <a:r>
              <a:rPr lang="en-US" sz="2000" b="1" dirty="0">
                <a:latin typeface="Aptos" panose="020B0004020202020204" pitchFamily="34" charset="0"/>
              </a:rPr>
              <a:t>Validation Metrics</a:t>
            </a:r>
            <a:r>
              <a:rPr lang="en-US" sz="2000" dirty="0">
                <a:latin typeface="Aptos" panose="020B0004020202020204" pitchFamily="34" charset="0"/>
              </a:rPr>
              <a:t>: </a:t>
            </a:r>
          </a:p>
          <a:p>
            <a:pPr marL="742950" lvl="1" indent="-285750">
              <a:buFont typeface="Arial" panose="020B0604020202020204" pitchFamily="34" charset="0"/>
              <a:buChar char="•"/>
            </a:pPr>
            <a:r>
              <a:rPr lang="en-US" sz="2000" dirty="0">
                <a:latin typeface="Aptos" panose="020B0004020202020204" pitchFamily="34" charset="0"/>
              </a:rPr>
              <a:t>MSE, MAE, PSNR, SSIM</a:t>
            </a:r>
          </a:p>
          <a:p>
            <a:pPr lvl="1"/>
            <a:endParaRPr lang="en-US" sz="1400" dirty="0">
              <a:latin typeface="Aptos" panose="020B0004020202020204" pitchFamily="34" charset="0"/>
            </a:endParaRPr>
          </a:p>
          <a:p>
            <a:r>
              <a:rPr lang="en-US" sz="2000" b="1" dirty="0">
                <a:latin typeface="Aptos" panose="020B0004020202020204" pitchFamily="34" charset="0"/>
              </a:rPr>
              <a:t>Loss function</a:t>
            </a:r>
            <a:r>
              <a:rPr lang="en-US" sz="2000" dirty="0">
                <a:latin typeface="Aptos" panose="020B0004020202020204" pitchFamily="34" charset="0"/>
              </a:rPr>
              <a:t>: </a:t>
            </a:r>
          </a:p>
          <a:p>
            <a:pPr marL="742950" lvl="1" indent="-285750">
              <a:buFont typeface="Arial" panose="020B0604020202020204" pitchFamily="34" charset="0"/>
              <a:buChar char="•"/>
            </a:pPr>
            <a:r>
              <a:rPr lang="en-US" sz="2000" dirty="0">
                <a:latin typeface="Aptos" panose="020B0004020202020204" pitchFamily="34" charset="0"/>
              </a:rPr>
              <a:t>MAE (L1 loss) → less sensitive to outliers, reflects average deviation in original units</a:t>
            </a:r>
          </a:p>
          <a:p>
            <a:pPr lvl="1"/>
            <a:endParaRPr lang="en-US" sz="1400" dirty="0">
              <a:latin typeface="Aptos" panose="020B0004020202020204" pitchFamily="34" charset="0"/>
            </a:endParaRPr>
          </a:p>
          <a:p>
            <a:r>
              <a:rPr lang="en-US" sz="2000" b="1" dirty="0">
                <a:latin typeface="Aptos" panose="020B0004020202020204" pitchFamily="34" charset="0"/>
              </a:rPr>
              <a:t>Optimizer &amp; Learning Rate:</a:t>
            </a:r>
          </a:p>
          <a:p>
            <a:pPr marL="742950" lvl="1" indent="-285750">
              <a:buFont typeface="Arial" panose="020B0604020202020204" pitchFamily="34" charset="0"/>
              <a:buChar char="•"/>
            </a:pPr>
            <a:r>
              <a:rPr lang="en-US" sz="2000" dirty="0">
                <a:latin typeface="Aptos" panose="020B0004020202020204" pitchFamily="34" charset="0"/>
              </a:rPr>
              <a:t>Adam optimizer</a:t>
            </a:r>
          </a:p>
          <a:p>
            <a:pPr marL="742950" lvl="1" indent="-285750">
              <a:buFont typeface="Arial" panose="020B0604020202020204" pitchFamily="34" charset="0"/>
              <a:buChar char="•"/>
            </a:pPr>
            <a:r>
              <a:rPr lang="en-US" sz="2000" dirty="0">
                <a:latin typeface="Aptos" panose="020B0004020202020204" pitchFamily="34" charset="0"/>
              </a:rPr>
              <a:t>ReduceLROnPlateau schedule</a:t>
            </a:r>
          </a:p>
          <a:p>
            <a:pPr lvl="1"/>
            <a:endParaRPr lang="en-US" sz="1400" b="1" dirty="0">
              <a:latin typeface="Aptos" panose="020B0004020202020204" pitchFamily="34" charset="0"/>
            </a:endParaRPr>
          </a:p>
          <a:p>
            <a:r>
              <a:rPr lang="en-US" sz="2000" b="1" dirty="0">
                <a:latin typeface="Aptos" panose="020B0004020202020204" pitchFamily="34" charset="0"/>
              </a:rPr>
              <a:t>Training Details:</a:t>
            </a:r>
          </a:p>
          <a:p>
            <a:pPr marL="742950" lvl="1" indent="-285750">
              <a:buFont typeface="Arial" panose="020B0604020202020204" pitchFamily="34" charset="0"/>
              <a:buChar char="•"/>
            </a:pPr>
            <a:r>
              <a:rPr lang="en-US" sz="2000" dirty="0">
                <a:latin typeface="Aptos" panose="020B0004020202020204" pitchFamily="34" charset="0"/>
              </a:rPr>
              <a:t>Batch Size: 128 (1° → 0.5°), 64 (0.5° → 0.25°)</a:t>
            </a:r>
          </a:p>
          <a:p>
            <a:pPr marL="742950" lvl="1" indent="-285750">
              <a:buFont typeface="Arial" panose="020B0604020202020204" pitchFamily="34" charset="0"/>
              <a:buChar char="•"/>
            </a:pPr>
            <a:r>
              <a:rPr lang="en-US" sz="2000" dirty="0">
                <a:latin typeface="Aptos" panose="020B0004020202020204" pitchFamily="34" charset="0"/>
              </a:rPr>
              <a:t>Epochs: 200 for architecture selection, 1000 for other trainings</a:t>
            </a:r>
          </a:p>
          <a:p>
            <a:pPr marL="742950" lvl="1" indent="-285750">
              <a:buFont typeface="Arial" panose="020B0604020202020204" pitchFamily="34" charset="0"/>
              <a:buChar char="•"/>
            </a:pPr>
            <a:r>
              <a:rPr lang="en-US" sz="2000" dirty="0">
                <a:latin typeface="Aptos" panose="020B0004020202020204" pitchFamily="34" charset="0"/>
              </a:rPr>
              <a:t>Early Stopping: 50 epochs for architecture selection, 150 for other trainings</a:t>
            </a:r>
            <a:endParaRPr lang="el-GR" sz="2000" b="1" dirty="0">
              <a:latin typeface="Aptos" panose="020B0004020202020204" pitchFamily="34" charset="0"/>
            </a:endParaRPr>
          </a:p>
        </p:txBody>
      </p:sp>
    </p:spTree>
    <p:extLst>
      <p:ext uri="{BB962C8B-B14F-4D97-AF65-F5344CB8AC3E}">
        <p14:creationId xmlns:p14="http://schemas.microsoft.com/office/powerpoint/2010/main" val="3499441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398F2-244E-E433-AB8B-D26E508262A9}"/>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700D9692-F0CF-CE40-2282-BF82F93299AC}"/>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D155F160-5861-908A-8256-A8B8D8370D08}"/>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11</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B238C8B8-D435-3324-53E0-FDC9837C775C}"/>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50408919-4724-1E0E-3AD5-B5D695A6D212}"/>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7BFCF0-F023-88E7-D502-B755C5E5A76F}"/>
              </a:ext>
            </a:extLst>
          </p:cNvPr>
          <p:cNvSpPr txBox="1"/>
          <p:nvPr/>
        </p:nvSpPr>
        <p:spPr>
          <a:xfrm>
            <a:off x="1101212" y="609600"/>
            <a:ext cx="10949274"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Baseline Selection  </a:t>
            </a:r>
            <a:endParaRPr lang="el-GR" sz="3200" b="1" dirty="0">
              <a:solidFill>
                <a:srgbClr val="29667D"/>
              </a:solidFill>
              <a:latin typeface="Aptos" panose="020B0004020202020204" pitchFamily="34" charset="0"/>
            </a:endParaRPr>
          </a:p>
        </p:txBody>
      </p:sp>
      <p:sp>
        <p:nvSpPr>
          <p:cNvPr id="2" name="TextBox 1">
            <a:extLst>
              <a:ext uri="{FF2B5EF4-FFF2-40B4-BE49-F238E27FC236}">
                <a16:creationId xmlns:a16="http://schemas.microsoft.com/office/drawing/2014/main" id="{3247D804-8708-06AA-FC37-8D3C4D13792B}"/>
              </a:ext>
            </a:extLst>
          </p:cNvPr>
          <p:cNvSpPr txBox="1"/>
          <p:nvPr/>
        </p:nvSpPr>
        <p:spPr>
          <a:xfrm>
            <a:off x="1276111" y="1547888"/>
            <a:ext cx="2764972" cy="369332"/>
          </a:xfrm>
          <a:prstGeom prst="rect">
            <a:avLst/>
          </a:prstGeom>
          <a:noFill/>
        </p:spPr>
        <p:txBody>
          <a:bodyPr wrap="square" rtlCol="0">
            <a:spAutoFit/>
          </a:bodyPr>
          <a:lstStyle/>
          <a:p>
            <a:r>
              <a:rPr lang="en-US" b="1" dirty="0">
                <a:solidFill>
                  <a:schemeClr val="tx1">
                    <a:lumMod val="95000"/>
                    <a:lumOff val="5000"/>
                  </a:schemeClr>
                </a:solidFill>
                <a:latin typeface="Aptos" panose="020B0004020202020204" pitchFamily="34" charset="0"/>
              </a:rPr>
              <a:t>Bicubic interpolation</a:t>
            </a:r>
            <a:r>
              <a:rPr lang="en-US" b="1" baseline="30000" dirty="0">
                <a:solidFill>
                  <a:schemeClr val="tx1">
                    <a:lumMod val="95000"/>
                    <a:lumOff val="5000"/>
                  </a:schemeClr>
                </a:solidFill>
                <a:latin typeface="Aptos" panose="020B0004020202020204" pitchFamily="34" charset="0"/>
              </a:rPr>
              <a:t>6</a:t>
            </a:r>
            <a:endParaRPr lang="el-GR" b="1" baseline="30000" dirty="0">
              <a:solidFill>
                <a:schemeClr val="tx1">
                  <a:lumMod val="95000"/>
                  <a:lumOff val="5000"/>
                </a:schemeClr>
              </a:solidFill>
              <a:latin typeface="Aptos" panose="020B0004020202020204" pitchFamily="34" charset="0"/>
            </a:endParaRPr>
          </a:p>
        </p:txBody>
      </p:sp>
      <p:sp>
        <p:nvSpPr>
          <p:cNvPr id="4" name="TextBox 3">
            <a:extLst>
              <a:ext uri="{FF2B5EF4-FFF2-40B4-BE49-F238E27FC236}">
                <a16:creationId xmlns:a16="http://schemas.microsoft.com/office/drawing/2014/main" id="{AFC2AACE-E936-198A-1055-3F491EE6BAC9}"/>
              </a:ext>
            </a:extLst>
          </p:cNvPr>
          <p:cNvSpPr txBox="1"/>
          <p:nvPr/>
        </p:nvSpPr>
        <p:spPr>
          <a:xfrm>
            <a:off x="889750" y="3807108"/>
            <a:ext cx="3820885" cy="369332"/>
          </a:xfrm>
          <a:prstGeom prst="rect">
            <a:avLst/>
          </a:prstGeom>
          <a:noFill/>
        </p:spPr>
        <p:txBody>
          <a:bodyPr wrap="square" rtlCol="0">
            <a:spAutoFit/>
          </a:bodyPr>
          <a:lstStyle/>
          <a:p>
            <a:r>
              <a:rPr lang="en-US" b="1" dirty="0">
                <a:solidFill>
                  <a:schemeClr val="tx1">
                    <a:lumMod val="95000"/>
                    <a:lumOff val="5000"/>
                  </a:schemeClr>
                </a:solidFill>
                <a:latin typeface="Aptos" panose="020B0004020202020204" pitchFamily="34" charset="0"/>
              </a:rPr>
              <a:t>Nearest-neighbor interpolation</a:t>
            </a:r>
            <a:r>
              <a:rPr lang="en-US" b="1" baseline="30000" dirty="0">
                <a:solidFill>
                  <a:schemeClr val="tx1">
                    <a:lumMod val="95000"/>
                    <a:lumOff val="5000"/>
                  </a:schemeClr>
                </a:solidFill>
                <a:latin typeface="Aptos" panose="020B0004020202020204" pitchFamily="34" charset="0"/>
              </a:rPr>
              <a:t>6</a:t>
            </a:r>
            <a:endParaRPr lang="el-GR" b="1" baseline="30000" dirty="0">
              <a:solidFill>
                <a:schemeClr val="tx1">
                  <a:lumMod val="95000"/>
                  <a:lumOff val="5000"/>
                </a:schemeClr>
              </a:solidFill>
              <a:latin typeface="Aptos" panose="020B0004020202020204" pitchFamily="34" charset="0"/>
            </a:endParaRPr>
          </a:p>
        </p:txBody>
      </p:sp>
      <p:sp>
        <p:nvSpPr>
          <p:cNvPr id="5" name="TextBox 4">
            <a:extLst>
              <a:ext uri="{FF2B5EF4-FFF2-40B4-BE49-F238E27FC236}">
                <a16:creationId xmlns:a16="http://schemas.microsoft.com/office/drawing/2014/main" id="{12CE8F30-A34C-ED75-F34F-8E5E8C0829CB}"/>
              </a:ext>
            </a:extLst>
          </p:cNvPr>
          <p:cNvSpPr txBox="1"/>
          <p:nvPr/>
        </p:nvSpPr>
        <p:spPr>
          <a:xfrm>
            <a:off x="5603307" y="1513873"/>
            <a:ext cx="5334000" cy="369332"/>
          </a:xfrm>
          <a:prstGeom prst="rect">
            <a:avLst/>
          </a:prstGeom>
          <a:noFill/>
        </p:spPr>
        <p:txBody>
          <a:bodyPr wrap="square" rtlCol="0">
            <a:spAutoFit/>
          </a:bodyPr>
          <a:lstStyle/>
          <a:p>
            <a:r>
              <a:rPr lang="en-US" b="1" dirty="0">
                <a:solidFill>
                  <a:schemeClr val="tx1">
                    <a:lumMod val="95000"/>
                    <a:lumOff val="5000"/>
                  </a:schemeClr>
                </a:solidFill>
                <a:latin typeface="Aptos" panose="020B0004020202020204" pitchFamily="34" charset="0"/>
              </a:rPr>
              <a:t>Bias-corrected nearest neighbor interpolation</a:t>
            </a:r>
            <a:endParaRPr lang="el-GR" b="1" dirty="0">
              <a:solidFill>
                <a:schemeClr val="tx1">
                  <a:lumMod val="95000"/>
                  <a:lumOff val="5000"/>
                </a:schemeClr>
              </a:solidFill>
              <a:latin typeface="Aptos" panose="020B0004020202020204" pitchFamily="34" charset="0"/>
            </a:endParaRPr>
          </a:p>
        </p:txBody>
      </p:sp>
      <p:pic>
        <p:nvPicPr>
          <p:cNvPr id="7" name="Εικόνα 6" descr="Εικόνα που περιέχει κείμενο, στιγμιότυπο οθόνης, γραμματοσειρά, αριθμός&#10;&#10;Το περιεχόμενο που δημιουργείται από AI ενδέχεται να είναι εσφαλμένο.">
            <a:extLst>
              <a:ext uri="{FF2B5EF4-FFF2-40B4-BE49-F238E27FC236}">
                <a16:creationId xmlns:a16="http://schemas.microsoft.com/office/drawing/2014/main" id="{5D6882B8-10A0-2E9D-9FC4-897B4D1F17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0957" y="3520318"/>
            <a:ext cx="5872614" cy="2423225"/>
          </a:xfrm>
          <a:prstGeom prst="rect">
            <a:avLst/>
          </a:prstGeom>
        </p:spPr>
      </p:pic>
      <p:pic>
        <p:nvPicPr>
          <p:cNvPr id="9" name="Εικόνα 8" descr="Εικόνα που περιέχει διάγραμμα, γραμμή, στιγμιότυπο οθόνης&#10;&#10;Το περιεχόμενο που δημιουργείται από AI ενδέχεται να είναι εσφαλμένο.">
            <a:extLst>
              <a:ext uri="{FF2B5EF4-FFF2-40B4-BE49-F238E27FC236}">
                <a16:creationId xmlns:a16="http://schemas.microsoft.com/office/drawing/2014/main" id="{CC7D8A9A-23C9-9FBB-9519-3D3F450904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4694" y="4245875"/>
            <a:ext cx="3367806" cy="1697668"/>
          </a:xfrm>
          <a:prstGeom prst="rect">
            <a:avLst/>
          </a:prstGeom>
        </p:spPr>
      </p:pic>
      <p:pic>
        <p:nvPicPr>
          <p:cNvPr id="16" name="Εικόνα 15" descr="Εικόνα που περιέχει διάγραμμα, γραμμή&#10;&#10;Το περιεχόμενο που δημιουργείται από AI ενδέχεται να είναι εσφαλμένο.">
            <a:extLst>
              <a:ext uri="{FF2B5EF4-FFF2-40B4-BE49-F238E27FC236}">
                <a16:creationId xmlns:a16="http://schemas.microsoft.com/office/drawing/2014/main" id="{04DF16C3-0683-1D29-5645-764AEA0BBE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4694" y="1973652"/>
            <a:ext cx="3259180" cy="1638644"/>
          </a:xfrm>
          <a:prstGeom prst="rect">
            <a:avLst/>
          </a:prstGeom>
        </p:spPr>
      </p:pic>
      <p:sp>
        <p:nvSpPr>
          <p:cNvPr id="17" name="TextBox 16">
            <a:extLst>
              <a:ext uri="{FF2B5EF4-FFF2-40B4-BE49-F238E27FC236}">
                <a16:creationId xmlns:a16="http://schemas.microsoft.com/office/drawing/2014/main" id="{6AF980EF-B079-BE3F-82F5-1382E3339644}"/>
              </a:ext>
            </a:extLst>
          </p:cNvPr>
          <p:cNvSpPr txBox="1"/>
          <p:nvPr/>
        </p:nvSpPr>
        <p:spPr>
          <a:xfrm>
            <a:off x="5897221" y="2234274"/>
            <a:ext cx="5040086"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ptos" panose="020B0004020202020204" pitchFamily="34" charset="0"/>
              </a:rPr>
              <a:t>Perform nearest neighbor interpolation</a:t>
            </a:r>
          </a:p>
          <a:p>
            <a:pPr marL="285750" indent="-285750">
              <a:buFont typeface="Arial" panose="020B0604020202020204" pitchFamily="34" charset="0"/>
              <a:buChar char="•"/>
            </a:pPr>
            <a:r>
              <a:rPr lang="en-US" dirty="0">
                <a:latin typeface="Aptos" panose="020B0004020202020204" pitchFamily="34" charset="0"/>
              </a:rPr>
              <a:t>Compute mean error grid from training set</a:t>
            </a:r>
          </a:p>
          <a:p>
            <a:pPr marL="285750" indent="-285750">
              <a:buFont typeface="Arial" panose="020B0604020202020204" pitchFamily="34" charset="0"/>
              <a:buChar char="•"/>
            </a:pPr>
            <a:r>
              <a:rPr lang="en-US" dirty="0">
                <a:latin typeface="Aptos" panose="020B0004020202020204" pitchFamily="34" charset="0"/>
              </a:rPr>
              <a:t>Use error grid to correct test set interpolation</a:t>
            </a:r>
            <a:endParaRPr lang="el-GR" dirty="0">
              <a:latin typeface="Aptos" panose="020B0004020202020204" pitchFamily="34" charset="0"/>
            </a:endParaRPr>
          </a:p>
        </p:txBody>
      </p:sp>
    </p:spTree>
    <p:extLst>
      <p:ext uri="{BB962C8B-B14F-4D97-AF65-F5344CB8AC3E}">
        <p14:creationId xmlns:p14="http://schemas.microsoft.com/office/powerpoint/2010/main" val="10606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E1F9C-387F-ECAA-DB31-6CA1FBF546EF}"/>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9610325E-36E7-C008-7C46-2AB267AE5D39}"/>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0263B41E-5178-1DBF-708D-A88243B9F466}"/>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12</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BE8BECAE-70E3-A35B-A17E-20E8777F98CC}"/>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7714B349-CFB3-F54F-8FCB-6B3D67DF6101}"/>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35CCD2A-632E-24FA-D2F1-5A12ECE74C25}"/>
              </a:ext>
            </a:extLst>
          </p:cNvPr>
          <p:cNvSpPr txBox="1"/>
          <p:nvPr/>
        </p:nvSpPr>
        <p:spPr>
          <a:xfrm>
            <a:off x="1101212" y="609600"/>
            <a:ext cx="11090788"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a:t>
            </a:r>
            <a:r>
              <a:rPr lang="el-GR" sz="3200" b="1" dirty="0">
                <a:solidFill>
                  <a:srgbClr val="29667D"/>
                </a:solidFill>
                <a:latin typeface="Aptos" panose="020B0004020202020204" pitchFamily="34" charset="0"/>
              </a:rPr>
              <a:t> </a:t>
            </a:r>
            <a:r>
              <a:rPr lang="en-US" sz="3200" b="1" dirty="0">
                <a:solidFill>
                  <a:srgbClr val="29667D"/>
                </a:solidFill>
                <a:latin typeface="Aptos" panose="020B0004020202020204" pitchFamily="34" charset="0"/>
              </a:rPr>
              <a:t>DL Model Architecture Selection</a:t>
            </a:r>
            <a:endParaRPr lang="el-GR" sz="3200" b="1" dirty="0">
              <a:solidFill>
                <a:srgbClr val="29667D"/>
              </a:solidFill>
              <a:latin typeface="Aptos" panose="020B0004020202020204" pitchFamily="34" charset="0"/>
            </a:endParaRPr>
          </a:p>
        </p:txBody>
      </p:sp>
      <p:pic>
        <p:nvPicPr>
          <p:cNvPr id="4" name="Εικόνα 3">
            <a:extLst>
              <a:ext uri="{FF2B5EF4-FFF2-40B4-BE49-F238E27FC236}">
                <a16:creationId xmlns:a16="http://schemas.microsoft.com/office/drawing/2014/main" id="{DBE0E778-1C30-28A9-438F-04267A74DA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3136" y="2028568"/>
            <a:ext cx="8037188" cy="3380722"/>
          </a:xfrm>
          <a:prstGeom prst="rect">
            <a:avLst/>
          </a:prstGeom>
        </p:spPr>
      </p:pic>
      <p:sp>
        <p:nvSpPr>
          <p:cNvPr id="5" name="TextBox 4">
            <a:extLst>
              <a:ext uri="{FF2B5EF4-FFF2-40B4-BE49-F238E27FC236}">
                <a16:creationId xmlns:a16="http://schemas.microsoft.com/office/drawing/2014/main" id="{8ABEB28C-6CB7-9456-2403-8504907A9D98}"/>
              </a:ext>
            </a:extLst>
          </p:cNvPr>
          <p:cNvSpPr txBox="1"/>
          <p:nvPr/>
        </p:nvSpPr>
        <p:spPr>
          <a:xfrm>
            <a:off x="3866041" y="1513873"/>
            <a:ext cx="3973689" cy="800219"/>
          </a:xfrm>
          <a:prstGeom prst="rect">
            <a:avLst/>
          </a:prstGeom>
          <a:noFill/>
        </p:spPr>
        <p:txBody>
          <a:bodyPr wrap="square" rtlCol="0">
            <a:spAutoFit/>
          </a:bodyPr>
          <a:lstStyle/>
          <a:p>
            <a:pPr algn="ctr"/>
            <a:r>
              <a:rPr lang="en-US" sz="2300" dirty="0">
                <a:solidFill>
                  <a:srgbClr val="29667D"/>
                </a:solidFill>
                <a:latin typeface="Aptos" panose="020B0004020202020204" pitchFamily="34" charset="0"/>
              </a:rPr>
              <a:t>Convolutional Auto-Encoder (CAE)</a:t>
            </a:r>
            <a:endParaRPr lang="el-GR" sz="2300" dirty="0">
              <a:solidFill>
                <a:srgbClr val="29667D"/>
              </a:solidFill>
              <a:latin typeface="Aptos" panose="020B0004020202020204" pitchFamily="34" charset="0"/>
            </a:endParaRPr>
          </a:p>
        </p:txBody>
      </p:sp>
      <p:sp>
        <p:nvSpPr>
          <p:cNvPr id="6" name="TextBox 5">
            <a:extLst>
              <a:ext uri="{FF2B5EF4-FFF2-40B4-BE49-F238E27FC236}">
                <a16:creationId xmlns:a16="http://schemas.microsoft.com/office/drawing/2014/main" id="{66B258A2-556E-21D9-FF99-4027F0807CBB}"/>
              </a:ext>
            </a:extLst>
          </p:cNvPr>
          <p:cNvSpPr txBox="1"/>
          <p:nvPr/>
        </p:nvSpPr>
        <p:spPr>
          <a:xfrm>
            <a:off x="3866041" y="5375123"/>
            <a:ext cx="4391378" cy="415498"/>
          </a:xfrm>
          <a:prstGeom prst="rect">
            <a:avLst/>
          </a:prstGeom>
          <a:noFill/>
        </p:spPr>
        <p:txBody>
          <a:bodyPr wrap="square" rtlCol="0">
            <a:spAutoFit/>
          </a:bodyPr>
          <a:lstStyle/>
          <a:p>
            <a:pPr algn="ctr"/>
            <a:r>
              <a:rPr lang="en-US" sz="2100" dirty="0">
                <a:solidFill>
                  <a:schemeClr val="tx1">
                    <a:lumMod val="85000"/>
                    <a:lumOff val="15000"/>
                  </a:schemeClr>
                </a:solidFill>
                <a:latin typeface="Aptos" panose="020B0004020202020204" pitchFamily="34" charset="0"/>
              </a:rPr>
              <a:t>Encoder  |  Latent Space  |  Decoder</a:t>
            </a:r>
            <a:endParaRPr lang="el-GR" sz="2100" dirty="0">
              <a:solidFill>
                <a:schemeClr val="tx1">
                  <a:lumMod val="85000"/>
                  <a:lumOff val="15000"/>
                </a:schemeClr>
              </a:solidFill>
              <a:latin typeface="Aptos" panose="020B0004020202020204" pitchFamily="34" charset="0"/>
            </a:endParaRPr>
          </a:p>
        </p:txBody>
      </p:sp>
    </p:spTree>
    <p:extLst>
      <p:ext uri="{BB962C8B-B14F-4D97-AF65-F5344CB8AC3E}">
        <p14:creationId xmlns:p14="http://schemas.microsoft.com/office/powerpoint/2010/main" val="2018707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B8818-21BB-1BB9-3464-52AB20A7FE60}"/>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A0D0A3FC-0BF9-9044-FBC9-05269D3B851F}"/>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1662D36E-5700-3583-B521-48C0DE16BC01}"/>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13</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CC4BBF68-228E-0E8D-9934-7A9E28F356D2}"/>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C0282813-B919-D9CA-C929-86B9D9E0F081}"/>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033B8BA-A482-C1D7-CE13-863642B263F3}"/>
              </a:ext>
            </a:extLst>
          </p:cNvPr>
          <p:cNvSpPr txBox="1"/>
          <p:nvPr/>
        </p:nvSpPr>
        <p:spPr>
          <a:xfrm>
            <a:off x="1101212" y="609600"/>
            <a:ext cx="11166988"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DL Model Architecture Selection</a:t>
            </a:r>
            <a:endParaRPr lang="el-GR" sz="3200" b="1" dirty="0">
              <a:solidFill>
                <a:srgbClr val="29667D"/>
              </a:solidFill>
              <a:latin typeface="Aptos" panose="020B0004020202020204" pitchFamily="34" charset="0"/>
            </a:endParaRPr>
          </a:p>
        </p:txBody>
      </p:sp>
      <p:pic>
        <p:nvPicPr>
          <p:cNvPr id="4" name="Εικόνα 3">
            <a:extLst>
              <a:ext uri="{FF2B5EF4-FFF2-40B4-BE49-F238E27FC236}">
                <a16:creationId xmlns:a16="http://schemas.microsoft.com/office/drawing/2014/main" id="{3F67267D-A360-C235-B536-319ACBFE455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591161" y="2365610"/>
            <a:ext cx="7009677" cy="3168975"/>
          </a:xfrm>
          <a:prstGeom prst="rect">
            <a:avLst/>
          </a:prstGeom>
        </p:spPr>
      </p:pic>
      <p:sp>
        <p:nvSpPr>
          <p:cNvPr id="5" name="TextBox 4">
            <a:extLst>
              <a:ext uri="{FF2B5EF4-FFF2-40B4-BE49-F238E27FC236}">
                <a16:creationId xmlns:a16="http://schemas.microsoft.com/office/drawing/2014/main" id="{EE323CF3-B649-6F90-80C3-EE2E7E156D5E}"/>
              </a:ext>
            </a:extLst>
          </p:cNvPr>
          <p:cNvSpPr txBox="1"/>
          <p:nvPr/>
        </p:nvSpPr>
        <p:spPr>
          <a:xfrm>
            <a:off x="2788355" y="1379883"/>
            <a:ext cx="6389511" cy="80021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29667D"/>
                </a:solidFill>
                <a:effectLst/>
                <a:uLnTx/>
                <a:uFillTx/>
                <a:latin typeface="Aptos" panose="020B0004020202020204" pitchFamily="34" charset="0"/>
                <a:ea typeface="+mn-ea"/>
                <a:cs typeface="+mn-cs"/>
              </a:rPr>
              <a:t>Super-Resolution Convolutional Neural Network (SRCNN)</a:t>
            </a:r>
            <a:endParaRPr kumimoji="0" lang="el-GR" sz="2300" b="0" i="0" u="none" strike="noStrike" kern="1200" cap="none" spc="0" normalizeH="0" baseline="0" noProof="0" dirty="0">
              <a:ln>
                <a:noFill/>
              </a:ln>
              <a:solidFill>
                <a:srgbClr val="29667D"/>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005350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A3D9-5644-5552-D1E5-C6785960378A}"/>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443119EA-321E-DCE3-9A93-B8FD365D3C5D}"/>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BB13343F-C1D9-5F84-E7DA-C2BD2FC6E8E2}"/>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14</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1712EEE9-1573-072E-40AB-84F8E6284ACD}"/>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2E9EB815-23CB-D49C-AC3F-B93D335C18F6}"/>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773099E-FC88-2CC4-25E6-DF7DE1BE287F}"/>
              </a:ext>
            </a:extLst>
          </p:cNvPr>
          <p:cNvSpPr txBox="1"/>
          <p:nvPr/>
        </p:nvSpPr>
        <p:spPr>
          <a:xfrm>
            <a:off x="1101212" y="609600"/>
            <a:ext cx="11275845"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|DL Model Architecture Selection</a:t>
            </a:r>
            <a:endParaRPr lang="el-GR" sz="3200" b="1" dirty="0">
              <a:solidFill>
                <a:srgbClr val="29667D"/>
              </a:solidFill>
              <a:latin typeface="Aptos" panose="020B0004020202020204" pitchFamily="34" charset="0"/>
            </a:endParaRPr>
          </a:p>
        </p:txBody>
      </p:sp>
      <p:pic>
        <p:nvPicPr>
          <p:cNvPr id="4" name="Εικόνα 3">
            <a:extLst>
              <a:ext uri="{FF2B5EF4-FFF2-40B4-BE49-F238E27FC236}">
                <a16:creationId xmlns:a16="http://schemas.microsoft.com/office/drawing/2014/main" id="{1741E317-516F-64F1-35B8-5A54C4910F2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764512" y="2249466"/>
            <a:ext cx="8595242" cy="3051793"/>
          </a:xfrm>
          <a:prstGeom prst="rect">
            <a:avLst/>
          </a:prstGeom>
        </p:spPr>
      </p:pic>
      <p:sp>
        <p:nvSpPr>
          <p:cNvPr id="2" name="TextBox 1">
            <a:extLst>
              <a:ext uri="{FF2B5EF4-FFF2-40B4-BE49-F238E27FC236}">
                <a16:creationId xmlns:a16="http://schemas.microsoft.com/office/drawing/2014/main" id="{4201182F-085D-52C1-E7FE-185AE28B2AF9}"/>
              </a:ext>
            </a:extLst>
          </p:cNvPr>
          <p:cNvSpPr txBox="1"/>
          <p:nvPr/>
        </p:nvSpPr>
        <p:spPr>
          <a:xfrm>
            <a:off x="3014133" y="1458905"/>
            <a:ext cx="6096000" cy="80021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29667D"/>
                </a:solidFill>
                <a:effectLst/>
                <a:uLnTx/>
                <a:uFillTx/>
                <a:latin typeface="Aptos" panose="020B0004020202020204" pitchFamily="34" charset="0"/>
                <a:ea typeface="+mn-ea"/>
                <a:cs typeface="+mn-cs"/>
              </a:rPr>
              <a:t>Enhanced Deep Super-Resolution Network (EDSR)</a:t>
            </a:r>
            <a:endParaRPr kumimoji="0" lang="el-GR" sz="2300" b="0" i="0" u="none" strike="noStrike" kern="1200" cap="none" spc="0" normalizeH="0" baseline="0" noProof="0" dirty="0">
              <a:ln>
                <a:noFill/>
              </a:ln>
              <a:solidFill>
                <a:srgbClr val="29667D"/>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062140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F24A3-84C8-7D0F-A73C-7B7A4605D393}"/>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98483918-4E24-E351-0656-D3981923C277}"/>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0F5655D2-E4EC-9060-27BB-0EC4D4AFFC8C}"/>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15</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9911E941-CEB4-B7FC-94FE-FF95FD10544D}"/>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39D2ECE8-5466-923A-8F6C-FF35EAF05F7A}"/>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848D131-327F-4626-80D3-E248CA877E69}"/>
              </a:ext>
            </a:extLst>
          </p:cNvPr>
          <p:cNvSpPr txBox="1"/>
          <p:nvPr/>
        </p:nvSpPr>
        <p:spPr>
          <a:xfrm>
            <a:off x="1101212" y="609600"/>
            <a:ext cx="10981931"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DL Model Architecture Selection</a:t>
            </a:r>
            <a:endParaRPr lang="el-GR" sz="3200" b="1" dirty="0">
              <a:solidFill>
                <a:srgbClr val="29667D"/>
              </a:solidFill>
              <a:latin typeface="Aptos" panose="020B0004020202020204" pitchFamily="34" charset="0"/>
            </a:endParaRPr>
          </a:p>
        </p:txBody>
      </p:sp>
      <p:pic>
        <p:nvPicPr>
          <p:cNvPr id="4" name="Εικόνα 3">
            <a:extLst>
              <a:ext uri="{FF2B5EF4-FFF2-40B4-BE49-F238E27FC236}">
                <a16:creationId xmlns:a16="http://schemas.microsoft.com/office/drawing/2014/main" id="{8F48B915-45C4-6122-DCF9-80E915FD5C6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515594" y="2214697"/>
            <a:ext cx="9160811" cy="2895599"/>
          </a:xfrm>
          <a:prstGeom prst="rect">
            <a:avLst/>
          </a:prstGeom>
        </p:spPr>
      </p:pic>
      <p:sp>
        <p:nvSpPr>
          <p:cNvPr id="2" name="TextBox 1">
            <a:extLst>
              <a:ext uri="{FF2B5EF4-FFF2-40B4-BE49-F238E27FC236}">
                <a16:creationId xmlns:a16="http://schemas.microsoft.com/office/drawing/2014/main" id="{B8BE6E26-8A07-FBE4-558C-29711396076C}"/>
              </a:ext>
            </a:extLst>
          </p:cNvPr>
          <p:cNvSpPr txBox="1"/>
          <p:nvPr/>
        </p:nvSpPr>
        <p:spPr>
          <a:xfrm>
            <a:off x="3160888" y="1515349"/>
            <a:ext cx="5621867" cy="80021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29667D"/>
                </a:solidFill>
                <a:effectLst/>
                <a:uLnTx/>
                <a:uFillTx/>
                <a:latin typeface="Aptos" panose="020B0004020202020204" pitchFamily="34" charset="0"/>
                <a:ea typeface="+mn-ea"/>
                <a:cs typeface="+mn-cs"/>
              </a:rPr>
              <a:t>Residual Channel Attention Network (RCAN)</a:t>
            </a:r>
            <a:endParaRPr kumimoji="0" lang="el-GR" sz="2300" b="0" i="0" u="none" strike="noStrike" kern="1200" cap="none" spc="0" normalizeH="0" baseline="0" noProof="0" dirty="0">
              <a:ln>
                <a:noFill/>
              </a:ln>
              <a:solidFill>
                <a:srgbClr val="29667D"/>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4084704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D1D59-B6C6-92C8-1582-0C3512687BCF}"/>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6BF89589-19F6-026C-3D94-67F184DD8574}"/>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E5BF812E-6FB0-62F3-8853-65504E3C5B6C}"/>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16</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A3135F25-DEAA-107C-1039-DC1A124E6F24}"/>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8711DE31-727A-65D4-42A3-AA97414F7B51}"/>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C875F33-2BFB-510C-9396-F68F164754C1}"/>
              </a:ext>
            </a:extLst>
          </p:cNvPr>
          <p:cNvSpPr txBox="1"/>
          <p:nvPr/>
        </p:nvSpPr>
        <p:spPr>
          <a:xfrm>
            <a:off x="1101212" y="609600"/>
            <a:ext cx="11341159"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DL Model Architecture Selection</a:t>
            </a:r>
            <a:endParaRPr lang="el-GR" sz="3200" b="1" dirty="0">
              <a:solidFill>
                <a:srgbClr val="29667D"/>
              </a:solidFill>
              <a:latin typeface="Aptos" panose="020B0004020202020204" pitchFamily="34" charset="0"/>
            </a:endParaRPr>
          </a:p>
        </p:txBody>
      </p:sp>
      <p:pic>
        <p:nvPicPr>
          <p:cNvPr id="6" name="Εικόνα 5">
            <a:extLst>
              <a:ext uri="{FF2B5EF4-FFF2-40B4-BE49-F238E27FC236}">
                <a16:creationId xmlns:a16="http://schemas.microsoft.com/office/drawing/2014/main" id="{C3B26B70-5875-0178-C6FA-AACF180FE5E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9195" y="1557867"/>
            <a:ext cx="7987516" cy="4492977"/>
          </a:xfrm>
          <a:prstGeom prst="rect">
            <a:avLst/>
          </a:prstGeom>
        </p:spPr>
      </p:pic>
      <p:pic>
        <p:nvPicPr>
          <p:cNvPr id="8" name="Εικόνα 7">
            <a:extLst>
              <a:ext uri="{FF2B5EF4-FFF2-40B4-BE49-F238E27FC236}">
                <a16:creationId xmlns:a16="http://schemas.microsoft.com/office/drawing/2014/main" id="{860F9EE1-BF2D-BC96-832A-1FF9AA9DD0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8110" y="1687448"/>
            <a:ext cx="3823627" cy="1676641"/>
          </a:xfrm>
          <a:prstGeom prst="rect">
            <a:avLst/>
          </a:prstGeom>
        </p:spPr>
      </p:pic>
      <p:sp>
        <p:nvSpPr>
          <p:cNvPr id="9" name="TextBox 8">
            <a:extLst>
              <a:ext uri="{FF2B5EF4-FFF2-40B4-BE49-F238E27FC236}">
                <a16:creationId xmlns:a16="http://schemas.microsoft.com/office/drawing/2014/main" id="{B78EB6B0-C09D-B820-738E-24C0846B3E97}"/>
              </a:ext>
            </a:extLst>
          </p:cNvPr>
          <p:cNvSpPr txBox="1"/>
          <p:nvPr/>
        </p:nvSpPr>
        <p:spPr>
          <a:xfrm>
            <a:off x="8421511" y="4018844"/>
            <a:ext cx="3567289" cy="1061829"/>
          </a:xfrm>
          <a:prstGeom prst="rect">
            <a:avLst/>
          </a:prstGeom>
          <a:noFill/>
        </p:spPr>
        <p:txBody>
          <a:bodyPr wrap="square" rtlCol="0">
            <a:spAutoFit/>
          </a:bodyPr>
          <a:lstStyle/>
          <a:p>
            <a:pPr algn="ctr"/>
            <a:r>
              <a:rPr lang="en-US" sz="2100" b="1" dirty="0">
                <a:solidFill>
                  <a:srgbClr val="29667D"/>
                </a:solidFill>
                <a:latin typeface="Aptos" panose="020B0004020202020204" pitchFamily="34" charset="0"/>
              </a:rPr>
              <a:t>EDSR</a:t>
            </a:r>
            <a:r>
              <a:rPr lang="en-US" sz="2100" dirty="0">
                <a:solidFill>
                  <a:schemeClr val="tx1">
                    <a:lumMod val="85000"/>
                    <a:lumOff val="15000"/>
                  </a:schemeClr>
                </a:solidFill>
                <a:latin typeface="Aptos" panose="020B0004020202020204" pitchFamily="34" charset="0"/>
              </a:rPr>
              <a:t> achieves higher performance compared to the others</a:t>
            </a:r>
            <a:endParaRPr lang="el-GR" sz="2100" dirty="0">
              <a:solidFill>
                <a:schemeClr val="tx1">
                  <a:lumMod val="85000"/>
                  <a:lumOff val="15000"/>
                </a:schemeClr>
              </a:solidFill>
              <a:latin typeface="Aptos" panose="020B0004020202020204" pitchFamily="34" charset="0"/>
            </a:endParaRPr>
          </a:p>
        </p:txBody>
      </p:sp>
    </p:spTree>
    <p:extLst>
      <p:ext uri="{BB962C8B-B14F-4D97-AF65-F5344CB8AC3E}">
        <p14:creationId xmlns:p14="http://schemas.microsoft.com/office/powerpoint/2010/main" val="4251399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7B35A-9E7C-0F80-8A6E-E62DABE60D63}"/>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2149DA2C-B59B-3A14-3EB6-E1AE1628C2DF}"/>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468F6AB9-7ADA-B6ED-56CE-A121301C3797}"/>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17</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1703EAEB-EA29-240B-25CF-81AE135C4788}"/>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CA464AB7-2283-799E-61C0-C3F1F38E1DE0}"/>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C06AC89-6DFD-A172-A735-054E55BED588}"/>
              </a:ext>
            </a:extLst>
          </p:cNvPr>
          <p:cNvSpPr txBox="1"/>
          <p:nvPr/>
        </p:nvSpPr>
        <p:spPr>
          <a:xfrm>
            <a:off x="1101212" y="468086"/>
            <a:ext cx="10753331"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Seasonal vs Universal models</a:t>
            </a:r>
            <a:endParaRPr lang="el-GR" sz="3200" b="1" dirty="0">
              <a:solidFill>
                <a:srgbClr val="29667D"/>
              </a:solidFill>
              <a:latin typeface="Aptos" panose="020B0004020202020204" pitchFamily="34" charset="0"/>
            </a:endParaRPr>
          </a:p>
        </p:txBody>
      </p:sp>
      <p:pic>
        <p:nvPicPr>
          <p:cNvPr id="4" name="Εικόνα 3" descr="Εικόνα που περιέχει κείμενο, στιγμιότυπο οθόνης, διάγραμμα, ορθογώνιο παραλληλόγραμμο&#10;&#10;Το περιεχόμενο που δημιουργείται από AI ενδέχεται να είναι εσφαλμένο.">
            <a:extLst>
              <a:ext uri="{FF2B5EF4-FFF2-40B4-BE49-F238E27FC236}">
                <a16:creationId xmlns:a16="http://schemas.microsoft.com/office/drawing/2014/main" id="{54AB7367-2C3B-A81A-CBCC-69170DF0F7B8}"/>
              </a:ext>
            </a:extLst>
          </p:cNvPr>
          <p:cNvPicPr>
            <a:picLocks noChangeAspect="1"/>
          </p:cNvPicPr>
          <p:nvPr/>
        </p:nvPicPr>
        <p:blipFill>
          <a:blip r:embed="rId4">
            <a:extLst>
              <a:ext uri="{28A0092B-C50C-407E-A947-70E740481C1C}">
                <a14:useLocalDpi xmlns:a14="http://schemas.microsoft.com/office/drawing/2010/main" val="0"/>
              </a:ext>
            </a:extLst>
          </a:blip>
          <a:srcRect t="1560" b="7751"/>
          <a:stretch>
            <a:fillRect/>
          </a:stretch>
        </p:blipFill>
        <p:spPr>
          <a:xfrm>
            <a:off x="533401" y="1143000"/>
            <a:ext cx="6604906" cy="5061858"/>
          </a:xfrm>
          <a:prstGeom prst="rect">
            <a:avLst/>
          </a:prstGeom>
        </p:spPr>
      </p:pic>
      <p:sp>
        <p:nvSpPr>
          <p:cNvPr id="5" name="TextBox 4">
            <a:extLst>
              <a:ext uri="{FF2B5EF4-FFF2-40B4-BE49-F238E27FC236}">
                <a16:creationId xmlns:a16="http://schemas.microsoft.com/office/drawing/2014/main" id="{144C8331-2ECB-407D-C1CE-8589951824AF}"/>
              </a:ext>
            </a:extLst>
          </p:cNvPr>
          <p:cNvSpPr txBox="1"/>
          <p:nvPr/>
        </p:nvSpPr>
        <p:spPr>
          <a:xfrm>
            <a:off x="7086601" y="2841171"/>
            <a:ext cx="5105399" cy="1569660"/>
          </a:xfrm>
          <a:prstGeom prst="rect">
            <a:avLst/>
          </a:prstGeom>
          <a:noFill/>
        </p:spPr>
        <p:txBody>
          <a:bodyPr wrap="square" rtlCol="0">
            <a:spAutoFit/>
          </a:bodyPr>
          <a:lstStyle/>
          <a:p>
            <a:r>
              <a:rPr lang="en-US" sz="2400" b="1" dirty="0">
                <a:solidFill>
                  <a:srgbClr val="29667D"/>
                </a:solidFill>
                <a:latin typeface="Aptos" panose="020B0004020202020204" pitchFamily="34" charset="0"/>
              </a:rPr>
              <a:t>“Training seasonal models adds unnecessary complexity without offering a meaningful improvement in performance.”</a:t>
            </a:r>
            <a:endParaRPr lang="el-GR" sz="2400" b="1" dirty="0">
              <a:solidFill>
                <a:srgbClr val="29667D"/>
              </a:solidFill>
              <a:latin typeface="Aptos" panose="020B0004020202020204" pitchFamily="34" charset="0"/>
            </a:endParaRPr>
          </a:p>
        </p:txBody>
      </p:sp>
    </p:spTree>
    <p:extLst>
      <p:ext uri="{BB962C8B-B14F-4D97-AF65-F5344CB8AC3E}">
        <p14:creationId xmlns:p14="http://schemas.microsoft.com/office/powerpoint/2010/main" val="354382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66F75-1D90-6041-3B76-C08CFB0F9ED0}"/>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FBDE611B-7A08-57EE-7839-A22A7543E18E}"/>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75E4EC3E-FBE4-C1FE-92E3-BB2E5E3E5D02}"/>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18</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573E2595-6292-3092-B33E-0A44A9E950B2}"/>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69C46A50-90CF-2805-6845-181D2605BBB9}"/>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8DA3603-7499-6DE5-4C2B-C0285F9B0B4E}"/>
              </a:ext>
            </a:extLst>
          </p:cNvPr>
          <p:cNvSpPr txBox="1"/>
          <p:nvPr/>
        </p:nvSpPr>
        <p:spPr>
          <a:xfrm>
            <a:off x="1101212" y="609600"/>
            <a:ext cx="11341159"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1-step vs 2-steps downscaling</a:t>
            </a:r>
            <a:endParaRPr lang="el-GR" sz="3200" b="1" dirty="0">
              <a:solidFill>
                <a:srgbClr val="29667D"/>
              </a:solidFill>
              <a:latin typeface="Aptos" panose="020B0004020202020204" pitchFamily="34" charset="0"/>
            </a:endParaRPr>
          </a:p>
        </p:txBody>
      </p:sp>
      <p:pic>
        <p:nvPicPr>
          <p:cNvPr id="4" name="Εικόνα 3" descr="Εικόνα που περιέχει πολυχρωμία, στιγμιότυπο οθόνης&#10;&#10;Το περιεχόμενο που δημιουργείται από AI ενδέχεται να είναι εσφαλμένο.">
            <a:extLst>
              <a:ext uri="{FF2B5EF4-FFF2-40B4-BE49-F238E27FC236}">
                <a16:creationId xmlns:a16="http://schemas.microsoft.com/office/drawing/2014/main" id="{7BF06CBB-A21A-8A70-F0F4-FEE8DD3B33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312" y="1207912"/>
            <a:ext cx="5973764" cy="5024006"/>
          </a:xfrm>
          <a:prstGeom prst="rect">
            <a:avLst/>
          </a:prstGeom>
        </p:spPr>
      </p:pic>
      <p:pic>
        <p:nvPicPr>
          <p:cNvPr id="6" name="Εικόνα 5" descr="Εικόνα που περιέχει κείμενο, στιγμιότυπο οθόνης, γραμματοσειρά, αριθμός&#10;&#10;Το περιεχόμενο που δημιουργείται από AI ενδέχεται να είναι εσφαλμένο.">
            <a:extLst>
              <a:ext uri="{FF2B5EF4-FFF2-40B4-BE49-F238E27FC236}">
                <a16:creationId xmlns:a16="http://schemas.microsoft.com/office/drawing/2014/main" id="{F67730C6-9D7F-4ECB-52F2-008D08E8E1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1902" y="1307240"/>
            <a:ext cx="5006774" cy="2232853"/>
          </a:xfrm>
          <a:prstGeom prst="rect">
            <a:avLst/>
          </a:prstGeom>
        </p:spPr>
      </p:pic>
      <p:sp>
        <p:nvSpPr>
          <p:cNvPr id="7" name="TextBox 6">
            <a:extLst>
              <a:ext uri="{FF2B5EF4-FFF2-40B4-BE49-F238E27FC236}">
                <a16:creationId xmlns:a16="http://schemas.microsoft.com/office/drawing/2014/main" id="{AE423FD3-8A3F-8336-4971-7CC91858B30B}"/>
              </a:ext>
            </a:extLst>
          </p:cNvPr>
          <p:cNvSpPr txBox="1"/>
          <p:nvPr/>
        </p:nvSpPr>
        <p:spPr>
          <a:xfrm>
            <a:off x="6987822" y="4360874"/>
            <a:ext cx="4334934" cy="1061829"/>
          </a:xfrm>
          <a:prstGeom prst="rect">
            <a:avLst/>
          </a:prstGeom>
          <a:noFill/>
        </p:spPr>
        <p:txBody>
          <a:bodyPr wrap="square" rtlCol="0">
            <a:spAutoFit/>
          </a:bodyPr>
          <a:lstStyle/>
          <a:p>
            <a:pPr algn="ctr"/>
            <a:r>
              <a:rPr lang="en-US" sz="2100" dirty="0">
                <a:solidFill>
                  <a:schemeClr val="tx1">
                    <a:lumMod val="85000"/>
                    <a:lumOff val="15000"/>
                  </a:schemeClr>
                </a:solidFill>
                <a:latin typeface="Aptos" panose="020B0004020202020204" pitchFamily="34" charset="0"/>
              </a:rPr>
              <a:t>The gradual, </a:t>
            </a:r>
            <a:r>
              <a:rPr lang="en-US" sz="2100" b="1" dirty="0">
                <a:solidFill>
                  <a:srgbClr val="29667D"/>
                </a:solidFill>
                <a:latin typeface="Aptos" panose="020B0004020202020204" pitchFamily="34" charset="0"/>
              </a:rPr>
              <a:t>2-steps</a:t>
            </a:r>
            <a:r>
              <a:rPr lang="en-US" sz="2100" dirty="0">
                <a:solidFill>
                  <a:schemeClr val="tx1">
                    <a:lumMod val="85000"/>
                    <a:lumOff val="15000"/>
                  </a:schemeClr>
                </a:solidFill>
                <a:latin typeface="Aptos" panose="020B0004020202020204" pitchFamily="34" charset="0"/>
              </a:rPr>
              <a:t> downscaling approach outperforms direct downscaling</a:t>
            </a:r>
            <a:endParaRPr lang="el-GR" sz="2100" dirty="0">
              <a:solidFill>
                <a:schemeClr val="tx1">
                  <a:lumMod val="85000"/>
                  <a:lumOff val="15000"/>
                </a:schemeClr>
              </a:solidFill>
              <a:latin typeface="Aptos" panose="020B0004020202020204" pitchFamily="34" charset="0"/>
            </a:endParaRPr>
          </a:p>
        </p:txBody>
      </p:sp>
    </p:spTree>
    <p:extLst>
      <p:ext uri="{BB962C8B-B14F-4D97-AF65-F5344CB8AC3E}">
        <p14:creationId xmlns:p14="http://schemas.microsoft.com/office/powerpoint/2010/main" val="2340707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0DAB3-6693-1C75-AD43-7B407887FD68}"/>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31E00636-B865-D3B5-B2FA-7BA3FD43B2DF}"/>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33FA4CB5-9FD5-84A1-4FC6-76126240A920}"/>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19</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CC8EB4DB-95D8-3E6F-C7A0-EFC52AE02434}"/>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387914D3-53E7-9BD3-1444-6FAA9ED8AF6C}"/>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B23091D-52B3-5873-C6C2-50033862F850}"/>
              </a:ext>
            </a:extLst>
          </p:cNvPr>
          <p:cNvSpPr txBox="1"/>
          <p:nvPr/>
        </p:nvSpPr>
        <p:spPr>
          <a:xfrm>
            <a:off x="948812" y="696685"/>
            <a:ext cx="11090788"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DEM data incorporation methods</a:t>
            </a:r>
          </a:p>
        </p:txBody>
      </p:sp>
      <p:pic>
        <p:nvPicPr>
          <p:cNvPr id="4" name="Εικόνα 3">
            <a:extLst>
              <a:ext uri="{FF2B5EF4-FFF2-40B4-BE49-F238E27FC236}">
                <a16:creationId xmlns:a16="http://schemas.microsoft.com/office/drawing/2014/main" id="{A2C548E6-CE74-D273-CF15-5FC92A9925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71743" y="1891653"/>
            <a:ext cx="6271803" cy="2713448"/>
          </a:xfrm>
          <a:prstGeom prst="rect">
            <a:avLst/>
          </a:prstGeom>
        </p:spPr>
      </p:pic>
      <p:pic>
        <p:nvPicPr>
          <p:cNvPr id="6" name="Εικόνα 5" descr="Εικόνα που περιέχει κείμενο, στιγμιότυπο οθόνης, γραμματοσειρά, αριθμός&#10;&#10;Το περιεχόμενο που δημιουργείται από AI ενδέχεται να είναι εσφαλμένο.">
            <a:extLst>
              <a:ext uri="{FF2B5EF4-FFF2-40B4-BE49-F238E27FC236}">
                <a16:creationId xmlns:a16="http://schemas.microsoft.com/office/drawing/2014/main" id="{233BE72F-50BE-8C4B-A398-A93D39CE22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0479" y="1911804"/>
            <a:ext cx="5548321" cy="2332817"/>
          </a:xfrm>
          <a:prstGeom prst="rect">
            <a:avLst/>
          </a:prstGeom>
        </p:spPr>
      </p:pic>
      <p:sp>
        <p:nvSpPr>
          <p:cNvPr id="7" name="TextBox 6">
            <a:extLst>
              <a:ext uri="{FF2B5EF4-FFF2-40B4-BE49-F238E27FC236}">
                <a16:creationId xmlns:a16="http://schemas.microsoft.com/office/drawing/2014/main" id="{7EF4CE6C-7B74-F309-EC14-5EE41CE91A38}"/>
              </a:ext>
            </a:extLst>
          </p:cNvPr>
          <p:cNvSpPr txBox="1"/>
          <p:nvPr/>
        </p:nvSpPr>
        <p:spPr>
          <a:xfrm>
            <a:off x="1394346" y="5037719"/>
            <a:ext cx="10092266" cy="415498"/>
          </a:xfrm>
          <a:prstGeom prst="rect">
            <a:avLst/>
          </a:prstGeom>
          <a:noFill/>
        </p:spPr>
        <p:txBody>
          <a:bodyPr wrap="square" rtlCol="0">
            <a:spAutoFit/>
          </a:bodyPr>
          <a:lstStyle/>
          <a:p>
            <a:r>
              <a:rPr lang="en-US" sz="2100" b="1" dirty="0">
                <a:solidFill>
                  <a:srgbClr val="29667D"/>
                </a:solidFill>
                <a:latin typeface="Aptos" panose="020B0004020202020204" pitchFamily="34" charset="0"/>
              </a:rPr>
              <a:t>Combination of Early &amp; Late Fusion </a:t>
            </a:r>
            <a:r>
              <a:rPr lang="en-US" sz="2100" dirty="0">
                <a:solidFill>
                  <a:schemeClr val="tx1">
                    <a:lumMod val="85000"/>
                    <a:lumOff val="15000"/>
                  </a:schemeClr>
                </a:solidFill>
                <a:latin typeface="Aptos" panose="020B0004020202020204" pitchFamily="34" charset="0"/>
              </a:rPr>
              <a:t>elevation data integration gave the best results</a:t>
            </a:r>
            <a:endParaRPr lang="el-GR" sz="2100" dirty="0">
              <a:solidFill>
                <a:schemeClr val="tx1">
                  <a:lumMod val="85000"/>
                  <a:lumOff val="15000"/>
                </a:schemeClr>
              </a:solidFill>
              <a:latin typeface="Aptos" panose="020B0004020202020204" pitchFamily="34" charset="0"/>
            </a:endParaRPr>
          </a:p>
        </p:txBody>
      </p:sp>
    </p:spTree>
    <p:extLst>
      <p:ext uri="{BB962C8B-B14F-4D97-AF65-F5344CB8AC3E}">
        <p14:creationId xmlns:p14="http://schemas.microsoft.com/office/powerpoint/2010/main" val="3081586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D0695-7BCA-0AAC-F1CD-7C09FED2506C}"/>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D68A3D81-3A10-FB88-6033-2DB0B13D6B3D}"/>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09F3CA3F-7509-8F2D-4EF5-52EA10AABA11}"/>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20</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A728809C-9158-8C56-3DB5-A85CE54E9DB1}"/>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sp>
        <p:nvSpPr>
          <p:cNvPr id="15" name="TextBox 14">
            <a:extLst>
              <a:ext uri="{FF2B5EF4-FFF2-40B4-BE49-F238E27FC236}">
                <a16:creationId xmlns:a16="http://schemas.microsoft.com/office/drawing/2014/main" id="{3132099E-4ED6-1759-C78E-220D9A13B8AA}"/>
              </a:ext>
            </a:extLst>
          </p:cNvPr>
          <p:cNvSpPr txBox="1"/>
          <p:nvPr/>
        </p:nvSpPr>
        <p:spPr>
          <a:xfrm>
            <a:off x="1101212" y="609600"/>
            <a:ext cx="10666245"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Final Results</a:t>
            </a:r>
            <a:endParaRPr lang="el-GR" sz="3200" b="1" dirty="0">
              <a:solidFill>
                <a:srgbClr val="29667D"/>
              </a:solidFill>
              <a:latin typeface="Aptos" panose="020B0004020202020204" pitchFamily="34" charset="0"/>
            </a:endParaRPr>
          </a:p>
        </p:txBody>
      </p:sp>
      <p:pic>
        <p:nvPicPr>
          <p:cNvPr id="5" name="Εικόνα 4" descr="Εικόνα που περιέχει διάγραμμα, οριγκάμι&#10;&#10;Το περιεχόμενο που δημιουργείται από AI ενδέχεται να είναι εσφαλμένο.">
            <a:extLst>
              <a:ext uri="{FF2B5EF4-FFF2-40B4-BE49-F238E27FC236}">
                <a16:creationId xmlns:a16="http://schemas.microsoft.com/office/drawing/2014/main" id="{3F3A6318-5C4B-8A0F-12BD-95AD53D081E5}"/>
              </a:ext>
            </a:extLst>
          </p:cNvPr>
          <p:cNvPicPr>
            <a:picLocks noChangeAspect="1"/>
          </p:cNvPicPr>
          <p:nvPr/>
        </p:nvPicPr>
        <p:blipFill>
          <a:blip r:embed="rId4">
            <a:extLst>
              <a:ext uri="{28A0092B-C50C-407E-A947-70E740481C1C}">
                <a14:useLocalDpi xmlns:a14="http://schemas.microsoft.com/office/drawing/2010/main" val="0"/>
              </a:ext>
            </a:extLst>
          </a:blip>
          <a:srcRect b="51403"/>
          <a:stretch>
            <a:fillRect/>
          </a:stretch>
        </p:blipFill>
        <p:spPr>
          <a:xfrm>
            <a:off x="6760714" y="1241778"/>
            <a:ext cx="5059832" cy="2348089"/>
          </a:xfrm>
          <a:prstGeom prst="rect">
            <a:avLst/>
          </a:prstGeom>
        </p:spPr>
      </p:pic>
      <p:pic>
        <p:nvPicPr>
          <p:cNvPr id="16" name="Εικόνα 15">
            <a:extLst>
              <a:ext uri="{FF2B5EF4-FFF2-40B4-BE49-F238E27FC236}">
                <a16:creationId xmlns:a16="http://schemas.microsoft.com/office/drawing/2014/main" id="{6DF07EDD-7203-9225-FDAB-1280746AE3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266" y="1291242"/>
            <a:ext cx="6305721" cy="4793468"/>
          </a:xfrm>
          <a:prstGeom prst="rect">
            <a:avLst/>
          </a:prstGeom>
        </p:spPr>
      </p:pic>
      <p:pic>
        <p:nvPicPr>
          <p:cNvPr id="17" name="Εικόνα 16" descr="Εικόνα που περιέχει διάγραμμα, οριγκάμι&#10;&#10;Το περιεχόμενο που δημιουργείται από AI ενδέχεται να είναι εσφαλμένο.">
            <a:extLst>
              <a:ext uri="{FF2B5EF4-FFF2-40B4-BE49-F238E27FC236}">
                <a16:creationId xmlns:a16="http://schemas.microsoft.com/office/drawing/2014/main" id="{5FD0B59E-A0EE-CBAC-21E6-ED3EC7D67534}"/>
              </a:ext>
            </a:extLst>
          </p:cNvPr>
          <p:cNvPicPr>
            <a:picLocks noChangeAspect="1"/>
          </p:cNvPicPr>
          <p:nvPr/>
        </p:nvPicPr>
        <p:blipFill>
          <a:blip r:embed="rId4">
            <a:extLst>
              <a:ext uri="{28A0092B-C50C-407E-A947-70E740481C1C}">
                <a14:useLocalDpi xmlns:a14="http://schemas.microsoft.com/office/drawing/2010/main" val="0"/>
              </a:ext>
            </a:extLst>
          </a:blip>
          <a:srcRect t="48014"/>
          <a:stretch>
            <a:fillRect/>
          </a:stretch>
        </p:blipFill>
        <p:spPr>
          <a:xfrm>
            <a:off x="6755070" y="3747909"/>
            <a:ext cx="5059832" cy="2511779"/>
          </a:xfrm>
          <a:prstGeom prst="rect">
            <a:avLst/>
          </a:prstGeom>
        </p:spPr>
      </p:pic>
      <p:cxnSp>
        <p:nvCxnSpPr>
          <p:cNvPr id="18" name="Ευθεία γραμμή σύνδεσης 17">
            <a:extLst>
              <a:ext uri="{FF2B5EF4-FFF2-40B4-BE49-F238E27FC236}">
                <a16:creationId xmlns:a16="http://schemas.microsoft.com/office/drawing/2014/main" id="{08AF0105-FE07-379C-D7F7-7C173AF84291}"/>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806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A39B6-6CA1-FF34-6C4B-B5077778F67D}"/>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DC634F45-5F96-39FD-B2FA-922271F16E20}"/>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3F74C822-EEA4-0633-2F04-17819848145A}"/>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21</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4199E618-A4E7-C642-A1D4-8AAFD134B3ED}"/>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sp>
        <p:nvSpPr>
          <p:cNvPr id="15" name="TextBox 14">
            <a:extLst>
              <a:ext uri="{FF2B5EF4-FFF2-40B4-BE49-F238E27FC236}">
                <a16:creationId xmlns:a16="http://schemas.microsoft.com/office/drawing/2014/main" id="{DB0EA25C-1A49-FCB4-301A-F16CF7A71C78}"/>
              </a:ext>
            </a:extLst>
          </p:cNvPr>
          <p:cNvSpPr txBox="1"/>
          <p:nvPr/>
        </p:nvSpPr>
        <p:spPr>
          <a:xfrm>
            <a:off x="1101212" y="609600"/>
            <a:ext cx="10971045"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Work strategy &amp; Results | Final Results</a:t>
            </a:r>
            <a:endParaRPr lang="el-GR" sz="3200" b="1" dirty="0">
              <a:solidFill>
                <a:srgbClr val="29667D"/>
              </a:solidFill>
              <a:latin typeface="Aptos" panose="020B0004020202020204" pitchFamily="34" charset="0"/>
            </a:endParaRPr>
          </a:p>
        </p:txBody>
      </p:sp>
      <p:cxnSp>
        <p:nvCxnSpPr>
          <p:cNvPr id="18" name="Ευθεία γραμμή σύνδεσης 17">
            <a:extLst>
              <a:ext uri="{FF2B5EF4-FFF2-40B4-BE49-F238E27FC236}">
                <a16:creationId xmlns:a16="http://schemas.microsoft.com/office/drawing/2014/main" id="{24B49924-BDA4-BBE4-0F10-6CAFC4403772}"/>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Εικόνα 3" descr="Εικόνα που περιέχει κείμενο, στιγμιότυπο οθόνης, γραμμή, γράφημα&#10;&#10;Το περιεχόμενο που δημιουργείται από AI ενδέχεται να είναι εσφαλμένο.">
            <a:extLst>
              <a:ext uri="{FF2B5EF4-FFF2-40B4-BE49-F238E27FC236}">
                <a16:creationId xmlns:a16="http://schemas.microsoft.com/office/drawing/2014/main" id="{A5D8FFE9-6ED1-E893-6688-67580FA4EEDC}"/>
              </a:ext>
            </a:extLst>
          </p:cNvPr>
          <p:cNvPicPr>
            <a:picLocks noChangeAspect="1"/>
          </p:cNvPicPr>
          <p:nvPr/>
        </p:nvPicPr>
        <p:blipFill>
          <a:blip r:embed="rId4">
            <a:extLst>
              <a:ext uri="{28A0092B-C50C-407E-A947-70E740481C1C}">
                <a14:useLocalDpi xmlns:a14="http://schemas.microsoft.com/office/drawing/2010/main" val="0"/>
              </a:ext>
            </a:extLst>
          </a:blip>
          <a:srcRect t="503"/>
          <a:stretch>
            <a:fillRect/>
          </a:stretch>
        </p:blipFill>
        <p:spPr>
          <a:xfrm>
            <a:off x="469139" y="1631485"/>
            <a:ext cx="6442631" cy="4389937"/>
          </a:xfrm>
          <a:prstGeom prst="rect">
            <a:avLst/>
          </a:prstGeom>
        </p:spPr>
      </p:pic>
      <p:pic>
        <p:nvPicPr>
          <p:cNvPr id="7" name="Εικόνα 6" descr="Εικόνα που περιέχει στιγμιότυπο οθόνης&#10;&#10;Το περιεχόμενο που δημιουργείται από AI ενδέχεται να είναι εσφαλμένο.">
            <a:extLst>
              <a:ext uri="{FF2B5EF4-FFF2-40B4-BE49-F238E27FC236}">
                <a16:creationId xmlns:a16="http://schemas.microsoft.com/office/drawing/2014/main" id="{A55D98BC-DEB0-C51C-038F-A6E14571EF8C}"/>
              </a:ext>
            </a:extLst>
          </p:cNvPr>
          <p:cNvPicPr>
            <a:picLocks noChangeAspect="1"/>
          </p:cNvPicPr>
          <p:nvPr/>
        </p:nvPicPr>
        <p:blipFill>
          <a:blip r:embed="rId5">
            <a:extLst>
              <a:ext uri="{28A0092B-C50C-407E-A947-70E740481C1C}">
                <a14:useLocalDpi xmlns:a14="http://schemas.microsoft.com/office/drawing/2010/main" val="0"/>
              </a:ext>
            </a:extLst>
          </a:blip>
          <a:srcRect l="50304"/>
          <a:stretch>
            <a:fillRect/>
          </a:stretch>
        </p:blipFill>
        <p:spPr>
          <a:xfrm>
            <a:off x="7164340" y="3760229"/>
            <a:ext cx="4459614" cy="2397379"/>
          </a:xfrm>
          <a:prstGeom prst="rect">
            <a:avLst/>
          </a:prstGeom>
        </p:spPr>
      </p:pic>
      <p:pic>
        <p:nvPicPr>
          <p:cNvPr id="8" name="Εικόνα 7" descr="Εικόνα που περιέχει στιγμιότυπο οθόνης&#10;&#10;Το περιεχόμενο που δημιουργείται από AI ενδέχεται να είναι εσφαλμένο.">
            <a:extLst>
              <a:ext uri="{FF2B5EF4-FFF2-40B4-BE49-F238E27FC236}">
                <a16:creationId xmlns:a16="http://schemas.microsoft.com/office/drawing/2014/main" id="{4A290F26-B52E-21C4-C560-87B21C4EC5AA}"/>
              </a:ext>
            </a:extLst>
          </p:cNvPr>
          <p:cNvPicPr>
            <a:picLocks noChangeAspect="1"/>
          </p:cNvPicPr>
          <p:nvPr/>
        </p:nvPicPr>
        <p:blipFill>
          <a:blip r:embed="rId5">
            <a:extLst>
              <a:ext uri="{28A0092B-C50C-407E-A947-70E740481C1C}">
                <a14:useLocalDpi xmlns:a14="http://schemas.microsoft.com/office/drawing/2010/main" val="0"/>
              </a:ext>
            </a:extLst>
          </a:blip>
          <a:srcRect r="49017"/>
          <a:stretch>
            <a:fillRect/>
          </a:stretch>
        </p:blipFill>
        <p:spPr>
          <a:xfrm>
            <a:off x="7179012" y="1393166"/>
            <a:ext cx="4575117" cy="2397379"/>
          </a:xfrm>
          <a:prstGeom prst="rect">
            <a:avLst/>
          </a:prstGeom>
        </p:spPr>
      </p:pic>
    </p:spTree>
    <p:extLst>
      <p:ext uri="{BB962C8B-B14F-4D97-AF65-F5344CB8AC3E}">
        <p14:creationId xmlns:p14="http://schemas.microsoft.com/office/powerpoint/2010/main" val="1151933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5E253-EEEA-08EC-8F0E-F24DBDA2065C}"/>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70CF9201-6F02-33EE-0FB4-9B558D46B84D}"/>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D6A25233-8C2B-517F-5D9E-880FAA5D5AA1}"/>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22</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DBB53FB8-53A0-78FD-FB1C-A30FBB97009C}"/>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347C491A-3AB9-759D-C75B-33C8C8D68D98}"/>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8DF3D43-F199-7FDC-96B3-4371AB7FB0FC}"/>
              </a:ext>
            </a:extLst>
          </p:cNvPr>
          <p:cNvSpPr txBox="1"/>
          <p:nvPr/>
        </p:nvSpPr>
        <p:spPr>
          <a:xfrm>
            <a:off x="1101212" y="609600"/>
            <a:ext cx="9352299"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Conclusions</a:t>
            </a:r>
            <a:endParaRPr lang="el-GR" sz="3200" b="1" dirty="0">
              <a:solidFill>
                <a:srgbClr val="29667D"/>
              </a:solidFill>
              <a:latin typeface="Aptos" panose="020B0004020202020204" pitchFamily="34" charset="0"/>
            </a:endParaRPr>
          </a:p>
        </p:txBody>
      </p:sp>
      <p:sp>
        <p:nvSpPr>
          <p:cNvPr id="2" name="TextBox 1">
            <a:extLst>
              <a:ext uri="{FF2B5EF4-FFF2-40B4-BE49-F238E27FC236}">
                <a16:creationId xmlns:a16="http://schemas.microsoft.com/office/drawing/2014/main" id="{8C2C19AE-F268-D52A-CA61-A1228FAD810E}"/>
              </a:ext>
            </a:extLst>
          </p:cNvPr>
          <p:cNvSpPr txBox="1"/>
          <p:nvPr/>
        </p:nvSpPr>
        <p:spPr>
          <a:xfrm>
            <a:off x="1132114" y="1317171"/>
            <a:ext cx="9808028" cy="4874604"/>
          </a:xfrm>
          <a:prstGeom prst="rect">
            <a:avLst/>
          </a:prstGeom>
          <a:noFill/>
        </p:spPr>
        <p:txBody>
          <a:bodyPr wrap="square" rtlCol="0">
            <a:spAutoFit/>
          </a:bodyPr>
          <a:lstStyle/>
          <a:p>
            <a:pPr marL="342900" indent="-342900">
              <a:lnSpc>
                <a:spcPct val="150000"/>
              </a:lnSpc>
              <a:buFont typeface="+mj-lt"/>
              <a:buAutoNum type="arabicPeriod"/>
            </a:pPr>
            <a:r>
              <a:rPr lang="en-US" sz="1900" dirty="0">
                <a:latin typeface="Aptos" panose="020B0004020202020204" pitchFamily="34" charset="0"/>
              </a:rPr>
              <a:t>Developed an </a:t>
            </a:r>
            <a:r>
              <a:rPr lang="en-US" sz="1900" b="1" dirty="0">
                <a:latin typeface="Aptos" panose="020B0004020202020204" pitchFamily="34" charset="0"/>
              </a:rPr>
              <a:t>effective and lightweight method</a:t>
            </a:r>
            <a:r>
              <a:rPr lang="en-US" sz="1900" dirty="0">
                <a:latin typeface="Aptos" panose="020B0004020202020204" pitchFamily="34" charset="0"/>
              </a:rPr>
              <a:t> for downscaling T2m data</a:t>
            </a:r>
          </a:p>
          <a:p>
            <a:pPr marL="342900" indent="-342900">
              <a:lnSpc>
                <a:spcPct val="150000"/>
              </a:lnSpc>
              <a:buFont typeface="+mj-lt"/>
              <a:buAutoNum type="arabicPeriod"/>
            </a:pPr>
            <a:r>
              <a:rPr lang="en-US" sz="1900" dirty="0">
                <a:latin typeface="Aptos" panose="020B0004020202020204" pitchFamily="34" charset="0"/>
              </a:rPr>
              <a:t>Achieved </a:t>
            </a:r>
            <a:r>
              <a:rPr lang="en-US" sz="1900" b="1" dirty="0">
                <a:latin typeface="Aptos" panose="020B0004020202020204" pitchFamily="34" charset="0"/>
              </a:rPr>
              <a:t>improvement of spatial resolution</a:t>
            </a:r>
            <a:r>
              <a:rPr lang="en-US" sz="1900" dirty="0">
                <a:latin typeface="Aptos" panose="020B0004020202020204" pitchFamily="34" charset="0"/>
              </a:rPr>
              <a:t> with low average error (~0.2°C per cell)</a:t>
            </a:r>
          </a:p>
          <a:p>
            <a:pPr marL="342900" indent="-342900">
              <a:lnSpc>
                <a:spcPct val="150000"/>
              </a:lnSpc>
              <a:buFont typeface="+mj-lt"/>
              <a:buAutoNum type="arabicPeriod"/>
            </a:pPr>
            <a:r>
              <a:rPr lang="en-US" sz="1900" dirty="0">
                <a:latin typeface="Aptos" panose="020B0004020202020204" pitchFamily="34" charset="0"/>
              </a:rPr>
              <a:t>Implemented </a:t>
            </a:r>
            <a:r>
              <a:rPr lang="en-US" sz="1900" b="1" dirty="0">
                <a:latin typeface="Aptos" panose="020B0004020202020204" pitchFamily="34" charset="0"/>
              </a:rPr>
              <a:t>complementary enhancements</a:t>
            </a:r>
            <a:r>
              <a:rPr lang="en-US" sz="1900" dirty="0">
                <a:latin typeface="Aptos" panose="020B0004020202020204" pitchFamily="34" charset="0"/>
              </a:rPr>
              <a:t>:</a:t>
            </a:r>
          </a:p>
          <a:p>
            <a:pPr marL="800100" lvl="1" indent="-342900">
              <a:lnSpc>
                <a:spcPct val="150000"/>
              </a:lnSpc>
              <a:buFont typeface="Arial" panose="020B0604020202020204" pitchFamily="34" charset="0"/>
              <a:buChar char="•"/>
            </a:pPr>
            <a:r>
              <a:rPr lang="en-US" sz="1900" dirty="0">
                <a:latin typeface="Aptos" panose="020B0004020202020204" pitchFamily="34" charset="0"/>
              </a:rPr>
              <a:t>Gradual two-step downscaling</a:t>
            </a:r>
          </a:p>
          <a:p>
            <a:pPr marL="800100" lvl="1" indent="-342900">
              <a:lnSpc>
                <a:spcPct val="150000"/>
              </a:lnSpc>
              <a:buFont typeface="Arial" panose="020B0604020202020204" pitchFamily="34" charset="0"/>
              <a:buChar char="•"/>
            </a:pPr>
            <a:r>
              <a:rPr lang="en-US" sz="1900" dirty="0">
                <a:latin typeface="Aptos" panose="020B0004020202020204" pitchFamily="34" charset="0"/>
              </a:rPr>
              <a:t>Integration of geospatial information (e.g., elevation)</a:t>
            </a:r>
          </a:p>
          <a:p>
            <a:pPr marL="800100" lvl="1" indent="-342900">
              <a:lnSpc>
                <a:spcPct val="150000"/>
              </a:lnSpc>
              <a:buFont typeface="Arial" panose="020B0604020202020204" pitchFamily="34" charset="0"/>
              <a:buChar char="•"/>
            </a:pPr>
            <a:r>
              <a:rPr lang="en-US" sz="1900" dirty="0">
                <a:latin typeface="Aptos" panose="020B0004020202020204" pitchFamily="34" charset="0"/>
              </a:rPr>
              <a:t>Shifted from generic SISR to </a:t>
            </a:r>
            <a:r>
              <a:rPr lang="en-US" sz="1900" b="1" dirty="0">
                <a:latin typeface="Aptos" panose="020B0004020202020204" pitchFamily="34" charset="0"/>
              </a:rPr>
              <a:t>domain-informed climate application</a:t>
            </a:r>
          </a:p>
          <a:p>
            <a:pPr marL="342900" indent="-342900">
              <a:lnSpc>
                <a:spcPct val="150000"/>
              </a:lnSpc>
              <a:buFont typeface="+mj-lt"/>
              <a:buAutoNum type="arabicPeriod"/>
            </a:pPr>
            <a:r>
              <a:rPr lang="en-US" sz="1900" dirty="0">
                <a:latin typeface="Aptos" panose="020B0004020202020204" pitchFamily="34" charset="0"/>
              </a:rPr>
              <a:t>Benefits:</a:t>
            </a:r>
          </a:p>
          <a:p>
            <a:pPr marL="800100" lvl="1" indent="-342900">
              <a:lnSpc>
                <a:spcPct val="150000"/>
              </a:lnSpc>
              <a:buFont typeface="Arial" panose="020B0604020202020204" pitchFamily="34" charset="0"/>
              <a:buChar char="•"/>
            </a:pPr>
            <a:r>
              <a:rPr lang="en-US" sz="1900" dirty="0">
                <a:latin typeface="Aptos" panose="020B0004020202020204" pitchFamily="34" charset="0"/>
              </a:rPr>
              <a:t>Improved accuracy, especially in </a:t>
            </a:r>
            <a:r>
              <a:rPr lang="en-US" sz="1900" b="1" dirty="0">
                <a:latin typeface="Aptos" panose="020B0004020202020204" pitchFamily="34" charset="0"/>
              </a:rPr>
              <a:t>complex terrains</a:t>
            </a:r>
          </a:p>
          <a:p>
            <a:pPr marL="800100" lvl="1" indent="-342900">
              <a:lnSpc>
                <a:spcPct val="150000"/>
              </a:lnSpc>
              <a:buFont typeface="Arial" panose="020B0604020202020204" pitchFamily="34" charset="0"/>
              <a:buChar char="•"/>
            </a:pPr>
            <a:r>
              <a:rPr lang="en-US" sz="1900" dirty="0">
                <a:latin typeface="Aptos" panose="020B0004020202020204" pitchFamily="34" charset="0"/>
              </a:rPr>
              <a:t>Increased </a:t>
            </a:r>
            <a:r>
              <a:rPr lang="en-US" sz="1900" b="1" dirty="0">
                <a:latin typeface="Aptos" panose="020B0004020202020204" pitchFamily="34" charset="0"/>
              </a:rPr>
              <a:t>physical interpretability</a:t>
            </a:r>
            <a:r>
              <a:rPr lang="en-US" sz="1900" dirty="0">
                <a:latin typeface="Aptos" panose="020B0004020202020204" pitchFamily="34" charset="0"/>
              </a:rPr>
              <a:t> of results</a:t>
            </a:r>
            <a:endParaRPr lang="en-US" sz="1900" b="1" dirty="0">
              <a:latin typeface="Aptos" panose="020B0004020202020204" pitchFamily="34" charset="0"/>
            </a:endParaRPr>
          </a:p>
          <a:p>
            <a:pPr marL="342900" indent="-342900">
              <a:lnSpc>
                <a:spcPct val="150000"/>
              </a:lnSpc>
              <a:buFont typeface="+mj-lt"/>
              <a:buAutoNum type="arabicPeriod"/>
            </a:pPr>
            <a:r>
              <a:rPr lang="en-US" sz="1900" dirty="0">
                <a:latin typeface="Aptos" panose="020B0004020202020204" pitchFamily="34" charset="0"/>
              </a:rPr>
              <a:t>Developed a </a:t>
            </a:r>
            <a:r>
              <a:rPr lang="en-US" sz="1900" b="1" dirty="0">
                <a:latin typeface="Aptos" panose="020B0004020202020204" pitchFamily="34" charset="0"/>
              </a:rPr>
              <a:t>model-agnostic approach</a:t>
            </a:r>
            <a:r>
              <a:rPr lang="en-US" sz="1900" dirty="0">
                <a:latin typeface="Aptos" panose="020B0004020202020204" pitchFamily="34" charset="0"/>
              </a:rPr>
              <a:t>, using only reanalysis data and independent of temporal sequence</a:t>
            </a:r>
            <a:endParaRPr lang="el-GR" sz="1900" dirty="0">
              <a:latin typeface="Aptos" panose="020B0004020202020204" pitchFamily="34" charset="0"/>
            </a:endParaRPr>
          </a:p>
        </p:txBody>
      </p:sp>
    </p:spTree>
    <p:extLst>
      <p:ext uri="{BB962C8B-B14F-4D97-AF65-F5344CB8AC3E}">
        <p14:creationId xmlns:p14="http://schemas.microsoft.com/office/powerpoint/2010/main" val="3298415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97B8-3AE0-3A1A-9B4D-AC0A2E0B6F3E}"/>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14A86355-29DB-32CC-F800-0C4A5091F49E}"/>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E1D4058A-7264-7424-37CD-8A994F093768}"/>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23</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92E9BB79-BCB7-F0EA-2EDF-3A9821409CED}"/>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4091FA9C-B956-6987-18EF-4B1D92A9F0A4}"/>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889B57F-9B63-CCA4-31A4-668C39BDE765}"/>
              </a:ext>
            </a:extLst>
          </p:cNvPr>
          <p:cNvSpPr txBox="1"/>
          <p:nvPr/>
        </p:nvSpPr>
        <p:spPr>
          <a:xfrm>
            <a:off x="1101212" y="609600"/>
            <a:ext cx="6710699"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Future work</a:t>
            </a:r>
            <a:endParaRPr lang="el-GR" sz="3200" b="1" dirty="0">
              <a:solidFill>
                <a:srgbClr val="29667D"/>
              </a:solidFill>
              <a:latin typeface="Aptos" panose="020B0004020202020204" pitchFamily="34" charset="0"/>
            </a:endParaRPr>
          </a:p>
        </p:txBody>
      </p:sp>
      <p:sp>
        <p:nvSpPr>
          <p:cNvPr id="2" name="TextBox 1">
            <a:extLst>
              <a:ext uri="{FF2B5EF4-FFF2-40B4-BE49-F238E27FC236}">
                <a16:creationId xmlns:a16="http://schemas.microsoft.com/office/drawing/2014/main" id="{BEBDD1B7-2E2D-79BE-BA73-005482D8E7F2}"/>
              </a:ext>
            </a:extLst>
          </p:cNvPr>
          <p:cNvSpPr txBox="1"/>
          <p:nvPr/>
        </p:nvSpPr>
        <p:spPr>
          <a:xfrm>
            <a:off x="1088573" y="1186544"/>
            <a:ext cx="9644742" cy="5416868"/>
          </a:xfrm>
          <a:prstGeom prst="rect">
            <a:avLst/>
          </a:prstGeom>
          <a:noFill/>
        </p:spPr>
        <p:txBody>
          <a:bodyPr wrap="square" rtlCol="0">
            <a:spAutoFit/>
          </a:bodyPr>
          <a:lstStyle/>
          <a:p>
            <a:pPr marL="342900" indent="-342900">
              <a:buFont typeface="+mj-lt"/>
              <a:buAutoNum type="arabicPeriod"/>
            </a:pPr>
            <a:r>
              <a:rPr lang="en-US" b="1" dirty="0">
                <a:latin typeface="Aptos" panose="020B0004020202020204" pitchFamily="34" charset="0"/>
              </a:rPr>
              <a:t>Extension to Other Climate Variables</a:t>
            </a:r>
          </a:p>
          <a:p>
            <a:pPr marL="800100" lvl="1" indent="-342900">
              <a:buFont typeface="Arial" panose="020B0604020202020204" pitchFamily="34" charset="0"/>
              <a:buChar char="•"/>
            </a:pPr>
            <a:r>
              <a:rPr lang="en-US" dirty="0">
                <a:latin typeface="Aptos" panose="020B0004020202020204" pitchFamily="34" charset="0"/>
              </a:rPr>
              <a:t>Precipitation</a:t>
            </a:r>
          </a:p>
          <a:p>
            <a:pPr marL="800100" lvl="1" indent="-342900">
              <a:buFont typeface="Arial" panose="020B0604020202020204" pitchFamily="34" charset="0"/>
              <a:buChar char="•"/>
            </a:pPr>
            <a:r>
              <a:rPr lang="en-US" dirty="0">
                <a:latin typeface="Aptos" panose="020B0004020202020204" pitchFamily="34" charset="0"/>
              </a:rPr>
              <a:t>Wind</a:t>
            </a:r>
          </a:p>
          <a:p>
            <a:pPr marL="800100" lvl="1" indent="-342900">
              <a:buFont typeface="Arial" panose="020B0604020202020204" pitchFamily="34" charset="0"/>
              <a:buChar char="•"/>
            </a:pPr>
            <a:r>
              <a:rPr lang="en-US" dirty="0">
                <a:latin typeface="Aptos" panose="020B0004020202020204" pitchFamily="34" charset="0"/>
              </a:rPr>
              <a:t>Multi-variable modeling (simultaneous downscaling of multiple variables)</a:t>
            </a:r>
          </a:p>
          <a:p>
            <a:pPr marL="800100" lvl="1" indent="-342900">
              <a:buFont typeface="Arial" panose="020B0604020202020204" pitchFamily="34" charset="0"/>
              <a:buChar char="•"/>
            </a:pPr>
            <a:r>
              <a:rPr lang="en-US" dirty="0">
                <a:latin typeface="Aptos" panose="020B0004020202020204" pitchFamily="34" charset="0"/>
              </a:rPr>
              <a:t>Use of data cubes for efficient multi-dimensional processing</a:t>
            </a:r>
          </a:p>
          <a:p>
            <a:pPr lvl="1"/>
            <a:endParaRPr lang="en-US" sz="1100" dirty="0">
              <a:latin typeface="Aptos" panose="020B0004020202020204" pitchFamily="34" charset="0"/>
            </a:endParaRPr>
          </a:p>
          <a:p>
            <a:pPr marL="342900" indent="-342900">
              <a:buFont typeface="+mj-lt"/>
              <a:buAutoNum type="arabicPeriod"/>
            </a:pPr>
            <a:r>
              <a:rPr lang="en-US" b="1" dirty="0">
                <a:latin typeface="Aptos" panose="020B0004020202020204" pitchFamily="34" charset="0"/>
              </a:rPr>
              <a:t>Finer-scale downscaling using higher-resolution reanalysis datasets</a:t>
            </a:r>
          </a:p>
          <a:p>
            <a:pPr marL="800100" lvl="1" indent="-342900">
              <a:buFont typeface="Arial" panose="020B0604020202020204" pitchFamily="34" charset="0"/>
              <a:buChar char="•"/>
            </a:pPr>
            <a:r>
              <a:rPr lang="en-US" dirty="0">
                <a:latin typeface="Aptos" panose="020B0004020202020204" pitchFamily="34" charset="0"/>
              </a:rPr>
              <a:t>ERA5-Land (9km)</a:t>
            </a:r>
          </a:p>
          <a:p>
            <a:pPr marL="800100" lvl="1" indent="-342900">
              <a:buFont typeface="Arial" panose="020B0604020202020204" pitchFamily="34" charset="0"/>
              <a:buChar char="•"/>
            </a:pPr>
            <a:r>
              <a:rPr lang="en-US" dirty="0">
                <a:latin typeface="Aptos" panose="020B0004020202020204" pitchFamily="34" charset="0"/>
              </a:rPr>
              <a:t>CERRA-Land (5.5km)</a:t>
            </a:r>
          </a:p>
          <a:p>
            <a:pPr lvl="1"/>
            <a:endParaRPr lang="en-US" sz="1100" dirty="0">
              <a:latin typeface="Aptos" panose="020B0004020202020204" pitchFamily="34" charset="0"/>
            </a:endParaRPr>
          </a:p>
          <a:p>
            <a:pPr marL="342900" indent="-342900">
              <a:buFont typeface="+mj-lt"/>
              <a:buAutoNum type="arabicPeriod"/>
            </a:pPr>
            <a:r>
              <a:rPr lang="en-US" b="1" dirty="0">
                <a:latin typeface="Aptos" panose="020B0004020202020204" pitchFamily="34" charset="0"/>
              </a:rPr>
              <a:t>Predictor Exploration at Each Downscaling Level</a:t>
            </a:r>
          </a:p>
          <a:p>
            <a:pPr lvl="1"/>
            <a:r>
              <a:rPr lang="en-US" dirty="0">
                <a:latin typeface="Aptos" panose="020B0004020202020204" pitchFamily="34" charset="0"/>
              </a:rPr>
              <a:t>For example:</a:t>
            </a:r>
          </a:p>
          <a:p>
            <a:pPr marL="1200150" lvl="2" indent="-285750">
              <a:buFont typeface="Arial" panose="020B0604020202020204" pitchFamily="34" charset="0"/>
              <a:buChar char="•"/>
            </a:pPr>
            <a:r>
              <a:rPr lang="en-US" dirty="0">
                <a:latin typeface="Aptos" panose="020B0004020202020204" pitchFamily="34" charset="0"/>
              </a:rPr>
              <a:t>100 km → 50 km: Climate zones</a:t>
            </a:r>
          </a:p>
          <a:p>
            <a:pPr marL="1200150" lvl="2" indent="-285750">
              <a:buFont typeface="Arial" panose="020B0604020202020204" pitchFamily="34" charset="0"/>
              <a:buChar char="•"/>
            </a:pPr>
            <a:r>
              <a:rPr lang="en-US" dirty="0">
                <a:latin typeface="Aptos" panose="020B0004020202020204" pitchFamily="34" charset="0"/>
              </a:rPr>
              <a:t>50 km → 25 km: Elevation and derived features (aspect, slope)</a:t>
            </a:r>
          </a:p>
          <a:p>
            <a:pPr marL="1200150" lvl="2" indent="-285750">
              <a:buFont typeface="Arial" panose="020B0604020202020204" pitchFamily="34" charset="0"/>
              <a:buChar char="•"/>
            </a:pPr>
            <a:r>
              <a:rPr lang="en-US" dirty="0">
                <a:latin typeface="Aptos" panose="020B0004020202020204" pitchFamily="34" charset="0"/>
              </a:rPr>
              <a:t>&lt;25 km: Land use data</a:t>
            </a:r>
          </a:p>
          <a:p>
            <a:pPr lvl="2"/>
            <a:endParaRPr lang="en-US" sz="1100" dirty="0">
              <a:latin typeface="Aptos" panose="020B0004020202020204" pitchFamily="34" charset="0"/>
            </a:endParaRPr>
          </a:p>
          <a:p>
            <a:pPr marL="342900" indent="-342900">
              <a:buFont typeface="+mj-lt"/>
              <a:buAutoNum type="arabicPeriod"/>
            </a:pPr>
            <a:r>
              <a:rPr lang="en-US" b="1" dirty="0">
                <a:latin typeface="Aptos" panose="020B0004020202020204" pitchFamily="34" charset="0"/>
              </a:rPr>
              <a:t>Model Architecture &amp; Training Optimizations</a:t>
            </a:r>
          </a:p>
          <a:p>
            <a:pPr marL="800100" lvl="1" indent="-342900">
              <a:buFont typeface="Arial" panose="020B0604020202020204" pitchFamily="34" charset="0"/>
              <a:buChar char="•"/>
            </a:pPr>
            <a:r>
              <a:rPr lang="en-US" dirty="0">
                <a:latin typeface="Aptos" panose="020B0004020202020204" pitchFamily="34" charset="0"/>
              </a:rPr>
              <a:t>Deeper EDSR models</a:t>
            </a:r>
          </a:p>
          <a:p>
            <a:pPr marL="800100" lvl="1" indent="-342900">
              <a:buFont typeface="Arial" panose="020B0604020202020204" pitchFamily="34" charset="0"/>
              <a:buChar char="•"/>
            </a:pPr>
            <a:r>
              <a:rPr lang="en-US" dirty="0">
                <a:latin typeface="Aptos" panose="020B0004020202020204" pitchFamily="34" charset="0"/>
              </a:rPr>
              <a:t>Explore GAN-based architectures</a:t>
            </a:r>
          </a:p>
          <a:p>
            <a:pPr marL="342900" indent="-342900">
              <a:buFont typeface="+mj-lt"/>
              <a:buAutoNum type="arabicPeriod"/>
            </a:pPr>
            <a:endParaRPr lang="el-GR" dirty="0">
              <a:latin typeface="Aptos" panose="020B0004020202020204" pitchFamily="34" charset="0"/>
            </a:endParaRPr>
          </a:p>
        </p:txBody>
      </p:sp>
    </p:spTree>
    <p:extLst>
      <p:ext uri="{BB962C8B-B14F-4D97-AF65-F5344CB8AC3E}">
        <p14:creationId xmlns:p14="http://schemas.microsoft.com/office/powerpoint/2010/main" val="4095502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F1A46-54E6-5A5F-11BE-6F7C1F2F4E23}"/>
            </a:ext>
          </a:extLst>
        </p:cNvPr>
        <p:cNvGrpSpPr/>
        <p:nvPr/>
      </p:nvGrpSpPr>
      <p:grpSpPr>
        <a:xfrm>
          <a:off x="0" y="0"/>
          <a:ext cx="0" cy="0"/>
          <a:chOff x="0" y="0"/>
          <a:chExt cx="0" cy="0"/>
        </a:xfrm>
      </p:grpSpPr>
      <p:pic>
        <p:nvPicPr>
          <p:cNvPr id="3" name="Picture 3" descr="Απόσπασμα Genetic concept">
            <a:extLst>
              <a:ext uri="{FF2B5EF4-FFF2-40B4-BE49-F238E27FC236}">
                <a16:creationId xmlns:a16="http://schemas.microsoft.com/office/drawing/2014/main" id="{83BCDDBE-0785-E785-A593-19AFAB0664C9}"/>
              </a:ext>
            </a:extLst>
          </p:cNvPr>
          <p:cNvPicPr>
            <a:picLocks noChangeAspect="1"/>
          </p:cNvPicPr>
          <p:nvPr/>
        </p:nvPicPr>
        <p:blipFill>
          <a:blip r:embed="rId3"/>
          <a:srcRect t="1929" r="-1" b="-1"/>
          <a:stretch>
            <a:fillRect/>
          </a:stretch>
        </p:blipFill>
        <p:spPr>
          <a:xfrm rot="5400000">
            <a:off x="-14602" y="14600"/>
            <a:ext cx="1513874" cy="1484671"/>
          </a:xfrm>
          <a:prstGeom prst="rtTriangle">
            <a:avLst/>
          </a:prstGeom>
        </p:spPr>
      </p:pic>
      <p:sp>
        <p:nvSpPr>
          <p:cNvPr id="11" name="Θέση αριθμού διαφάνειας 10">
            <a:extLst>
              <a:ext uri="{FF2B5EF4-FFF2-40B4-BE49-F238E27FC236}">
                <a16:creationId xmlns:a16="http://schemas.microsoft.com/office/drawing/2014/main" id="{801947B5-C18C-0443-7FAC-265426FDB952}"/>
              </a:ext>
            </a:extLst>
          </p:cNvPr>
          <p:cNvSpPr>
            <a:spLocks noGrp="1"/>
          </p:cNvSpPr>
          <p:nvPr>
            <p:ph type="sldNum" sz="quarter" idx="12"/>
          </p:nvPr>
        </p:nvSpPr>
        <p:spPr>
          <a:xfrm>
            <a:off x="9023555" y="6356351"/>
            <a:ext cx="2743200" cy="365125"/>
          </a:xfrm>
        </p:spPr>
        <p:txBody>
          <a:bodyPr/>
          <a:lstStyle/>
          <a:p>
            <a:fld id="{C0722274-0FAA-4649-AA4E-4210F4F32167}" type="slidenum">
              <a:rPr lang="en-US" sz="1900" b="1" smtClean="0">
                <a:solidFill>
                  <a:srgbClr val="29667D"/>
                </a:solidFill>
                <a:latin typeface="Aptos" panose="020B0004020202020204" pitchFamily="34" charset="0"/>
              </a:rPr>
              <a:pPr/>
              <a:t>24</a:t>
            </a:fld>
            <a:endParaRPr lang="en-US" sz="1900" b="1" dirty="0">
              <a:solidFill>
                <a:srgbClr val="29667D"/>
              </a:solidFill>
              <a:latin typeface="Aptos" panose="020B0004020202020204" pitchFamily="34" charset="0"/>
            </a:endParaRPr>
          </a:p>
        </p:txBody>
      </p:sp>
      <p:sp>
        <p:nvSpPr>
          <p:cNvPr id="12" name="Θέση υποσέλιδου 11">
            <a:extLst>
              <a:ext uri="{FF2B5EF4-FFF2-40B4-BE49-F238E27FC236}">
                <a16:creationId xmlns:a16="http://schemas.microsoft.com/office/drawing/2014/main" id="{6378BF67-16A2-CFFE-E180-AB45AD3DE3C9}"/>
              </a:ext>
            </a:extLst>
          </p:cNvPr>
          <p:cNvSpPr>
            <a:spLocks noGrp="1"/>
          </p:cNvSpPr>
          <p:nvPr>
            <p:ph type="ftr" sz="quarter" idx="11"/>
          </p:nvPr>
        </p:nvSpPr>
        <p:spPr>
          <a:xfrm>
            <a:off x="2133600" y="6356350"/>
            <a:ext cx="8239432" cy="365125"/>
          </a:xfrm>
        </p:spPr>
        <p:txBody>
          <a:bodyPr/>
          <a:lstStyle/>
          <a:p>
            <a:r>
              <a:rPr lang="en-US" sz="1500" dirty="0">
                <a:latin typeface="Aptos" panose="020B0004020202020204" pitchFamily="34" charset="0"/>
              </a:rPr>
              <a:t>MSc Thesis defens</a:t>
            </a:r>
            <a:r>
              <a:rPr lang="el-GR" sz="1500" dirty="0">
                <a:latin typeface="Aptos" panose="020B0004020202020204" pitchFamily="34" charset="0"/>
              </a:rPr>
              <a:t>e | </a:t>
            </a:r>
            <a:r>
              <a:rPr lang="en-US" sz="1500" dirty="0">
                <a:latin typeface="Aptos" panose="020B0004020202020204" pitchFamily="34" charset="0"/>
              </a:rPr>
              <a:t>Antigoni Moira</a:t>
            </a:r>
            <a:r>
              <a:rPr lang="el-GR" sz="1500" dirty="0">
                <a:latin typeface="Aptos" panose="020B0004020202020204" pitchFamily="34" charset="0"/>
              </a:rPr>
              <a:t> |</a:t>
            </a:r>
            <a:r>
              <a:rPr lang="en-US" sz="1500" dirty="0">
                <a:latin typeface="Aptos" panose="020B0004020202020204" pitchFamily="34" charset="0"/>
              </a:rPr>
              <a:t> 01.10.2025</a:t>
            </a:r>
          </a:p>
        </p:txBody>
      </p:sp>
      <p:cxnSp>
        <p:nvCxnSpPr>
          <p:cNvPr id="14" name="Ευθεία γραμμή σύνδεσης 13">
            <a:extLst>
              <a:ext uri="{FF2B5EF4-FFF2-40B4-BE49-F238E27FC236}">
                <a16:creationId xmlns:a16="http://schemas.microsoft.com/office/drawing/2014/main" id="{E248B104-5660-DF3B-5923-F281DBE75619}"/>
              </a:ext>
            </a:extLst>
          </p:cNvPr>
          <p:cNvCxnSpPr/>
          <p:nvPr/>
        </p:nvCxnSpPr>
        <p:spPr>
          <a:xfrm>
            <a:off x="698090" y="6243484"/>
            <a:ext cx="1105145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16BA8B9-C4DF-43C0-DE33-B9FB92850385}"/>
              </a:ext>
            </a:extLst>
          </p:cNvPr>
          <p:cNvSpPr txBox="1"/>
          <p:nvPr/>
        </p:nvSpPr>
        <p:spPr>
          <a:xfrm>
            <a:off x="1101212" y="609600"/>
            <a:ext cx="6710699" cy="584775"/>
          </a:xfrm>
          <a:prstGeom prst="rect">
            <a:avLst/>
          </a:prstGeom>
          <a:noFill/>
        </p:spPr>
        <p:txBody>
          <a:bodyPr wrap="square" rtlCol="0">
            <a:spAutoFit/>
          </a:bodyPr>
          <a:lstStyle/>
          <a:p>
            <a:r>
              <a:rPr lang="en-US" sz="3200" b="1" dirty="0">
                <a:solidFill>
                  <a:srgbClr val="29667D"/>
                </a:solidFill>
                <a:latin typeface="Aptos" panose="020B0004020202020204" pitchFamily="34" charset="0"/>
              </a:rPr>
              <a:t>References</a:t>
            </a:r>
            <a:endParaRPr lang="el-GR" sz="3200" b="1" dirty="0">
              <a:solidFill>
                <a:srgbClr val="29667D"/>
              </a:solidFill>
              <a:latin typeface="Aptos" panose="020B0004020202020204" pitchFamily="34" charset="0"/>
            </a:endParaRPr>
          </a:p>
        </p:txBody>
      </p:sp>
      <p:sp>
        <p:nvSpPr>
          <p:cNvPr id="2" name="TextBox 1">
            <a:extLst>
              <a:ext uri="{FF2B5EF4-FFF2-40B4-BE49-F238E27FC236}">
                <a16:creationId xmlns:a16="http://schemas.microsoft.com/office/drawing/2014/main" id="{71FE9B02-C3D5-8DAF-459D-AF9F01014A30}"/>
              </a:ext>
            </a:extLst>
          </p:cNvPr>
          <p:cNvSpPr txBox="1"/>
          <p:nvPr/>
        </p:nvSpPr>
        <p:spPr>
          <a:xfrm>
            <a:off x="1028095" y="1219200"/>
            <a:ext cx="10442222" cy="4955203"/>
          </a:xfrm>
          <a:prstGeom prst="rect">
            <a:avLst/>
          </a:prstGeom>
          <a:noFill/>
        </p:spPr>
        <p:txBody>
          <a:bodyPr wrap="square" rtlCol="0">
            <a:spAutoFit/>
          </a:bodyPr>
          <a:lstStyle/>
          <a:p>
            <a:pPr marL="342900" indent="-342900">
              <a:buFont typeface="+mj-lt"/>
              <a:buAutoNum type="arabicPeriod"/>
            </a:pPr>
            <a:r>
              <a:rPr lang="en-US" sz="1600" dirty="0">
                <a:latin typeface="Aptos" panose="020B0004020202020204" pitchFamily="34" charset="0"/>
              </a:rPr>
              <a:t>Edwards, P. N. (2010). History of climate modeling. WIREs Climate Change, 2(1), 128–139. </a:t>
            </a:r>
            <a:r>
              <a:rPr lang="en-US" sz="1600" dirty="0">
                <a:latin typeface="Aptos" panose="020B0004020202020204" pitchFamily="34" charset="0"/>
                <a:hlinkClick r:id="rId4"/>
              </a:rPr>
              <a:t>https://doi.org/10.1002/wcc.95</a:t>
            </a:r>
            <a:endParaRPr lang="en-US" sz="1600" dirty="0">
              <a:latin typeface="Aptos" panose="020B0004020202020204" pitchFamily="34" charset="0"/>
            </a:endParaRPr>
          </a:p>
          <a:p>
            <a:endParaRPr lang="en-US" sz="1100" dirty="0">
              <a:latin typeface="Aptos" panose="020B0004020202020204" pitchFamily="34" charset="0"/>
            </a:endParaRPr>
          </a:p>
          <a:p>
            <a:pPr marL="342900" indent="-342900">
              <a:buFont typeface="+mj-lt"/>
              <a:buAutoNum type="arabicPeriod" startAt="2"/>
            </a:pPr>
            <a:r>
              <a:rPr lang="en-US" sz="1600" dirty="0">
                <a:latin typeface="Aptos" panose="020B0004020202020204" pitchFamily="34" charset="0"/>
              </a:rPr>
              <a:t>Lam et al. (2022). </a:t>
            </a:r>
            <a:r>
              <a:rPr lang="en-US" sz="1600" dirty="0" err="1">
                <a:latin typeface="Aptos" panose="020B0004020202020204" pitchFamily="34" charset="0"/>
              </a:rPr>
              <a:t>GraphCast</a:t>
            </a:r>
            <a:r>
              <a:rPr lang="en-US" sz="1600" dirty="0">
                <a:latin typeface="Aptos" panose="020B0004020202020204" pitchFamily="34" charset="0"/>
              </a:rPr>
              <a:t>: Learning skillful medium-range global weather forecasting (Version 2). </a:t>
            </a:r>
            <a:r>
              <a:rPr lang="en-US" sz="1600" dirty="0">
                <a:latin typeface="Aptos" panose="020B0004020202020204" pitchFamily="34" charset="0"/>
                <a:hlinkClick r:id="rId5"/>
              </a:rPr>
              <a:t>https://doi.org/10.48550/ARXIV.2212.12794</a:t>
            </a:r>
            <a:endParaRPr lang="en-US" sz="1600" dirty="0">
              <a:latin typeface="Aptos" panose="020B0004020202020204" pitchFamily="34" charset="0"/>
            </a:endParaRPr>
          </a:p>
          <a:p>
            <a:endParaRPr lang="en-US" sz="1100" dirty="0">
              <a:latin typeface="Aptos" panose="020B0004020202020204" pitchFamily="34" charset="0"/>
            </a:endParaRPr>
          </a:p>
          <a:p>
            <a:pPr marL="342900" indent="-342900">
              <a:buFont typeface="+mj-lt"/>
              <a:buAutoNum type="arabicPeriod" startAt="3"/>
            </a:pPr>
            <a:r>
              <a:rPr lang="en-US" sz="1600" dirty="0">
                <a:latin typeface="Aptos" panose="020B0004020202020204" pitchFamily="34" charset="0"/>
              </a:rPr>
              <a:t>UNDRR and WMO (2023), Technical guidance on application of climate information for comprehensive risk management, United Nations Office for Disaster Risk Reduction and World Meteorological Organization. </a:t>
            </a:r>
          </a:p>
          <a:p>
            <a:pPr marL="342900" indent="-342900">
              <a:buFont typeface="+mj-lt"/>
              <a:buAutoNum type="arabicPeriod" startAt="3"/>
            </a:pPr>
            <a:endParaRPr lang="en-US" sz="1100" dirty="0">
              <a:latin typeface="Aptos" panose="020B0004020202020204" pitchFamily="34" charset="0"/>
            </a:endParaRPr>
          </a:p>
          <a:p>
            <a:pPr marL="342900" indent="-342900">
              <a:buFont typeface="+mj-lt"/>
              <a:buAutoNum type="arabicPeriod" startAt="3"/>
            </a:pPr>
            <a:r>
              <a:rPr lang="en-US" sz="1600" dirty="0">
                <a:latin typeface="Aptos" panose="020B0004020202020204" pitchFamily="34" charset="0"/>
              </a:rPr>
              <a:t>Washington et al.(2008). The computational future for climate and Earth system models: on the path to petaflop and beyond. </a:t>
            </a:r>
            <a:r>
              <a:rPr lang="en-US" sz="1600" dirty="0">
                <a:latin typeface="Aptos" panose="020B0004020202020204" pitchFamily="34" charset="0"/>
                <a:hlinkClick r:id="rId6"/>
              </a:rPr>
              <a:t>https://doi.org/10.1098/rsta.2008.0219</a:t>
            </a:r>
            <a:endParaRPr lang="en-US" sz="1600" dirty="0">
              <a:latin typeface="Aptos" panose="020B0004020202020204" pitchFamily="34" charset="0"/>
            </a:endParaRPr>
          </a:p>
          <a:p>
            <a:pPr marL="342900" indent="-342900">
              <a:buFont typeface="+mj-lt"/>
              <a:buAutoNum type="arabicPeriod" startAt="3"/>
            </a:pPr>
            <a:endParaRPr lang="en-US" sz="1100" dirty="0">
              <a:latin typeface="Aptos" panose="020B0004020202020204" pitchFamily="34" charset="0"/>
            </a:endParaRPr>
          </a:p>
          <a:p>
            <a:pPr marL="342900" indent="-342900">
              <a:buFont typeface="+mj-lt"/>
              <a:buAutoNum type="arabicPeriod" startAt="3"/>
            </a:pPr>
            <a:r>
              <a:rPr lang="en-US" sz="1600" dirty="0">
                <a:latin typeface="Aptos" panose="020B0004020202020204" pitchFamily="34" charset="0"/>
              </a:rPr>
              <a:t>C3S. (2018). ERA5 hourly data on single levels from 1940 to present [Dataset]. Copernicus Climate Change Service (C3S) Climate Data Store (CDS). </a:t>
            </a:r>
            <a:r>
              <a:rPr lang="en-US" sz="1600" dirty="0">
                <a:latin typeface="Aptos" panose="020B0004020202020204" pitchFamily="34" charset="0"/>
                <a:hlinkClick r:id="rId7"/>
              </a:rPr>
              <a:t>https://doi.org/10.24381/CDS.ADBB2D47</a:t>
            </a:r>
            <a:endParaRPr lang="en-US" sz="1600" dirty="0">
              <a:latin typeface="Aptos" panose="020B0004020202020204" pitchFamily="34" charset="0"/>
            </a:endParaRPr>
          </a:p>
          <a:p>
            <a:pPr marL="342900" indent="-342900">
              <a:buFont typeface="+mj-lt"/>
              <a:buAutoNum type="arabicPeriod" startAt="3"/>
            </a:pPr>
            <a:endParaRPr lang="en-US" sz="1100" dirty="0">
              <a:latin typeface="Aptos" panose="020B0004020202020204" pitchFamily="34" charset="0"/>
            </a:endParaRPr>
          </a:p>
          <a:p>
            <a:pPr marL="342900" indent="-342900">
              <a:buFont typeface="+mj-lt"/>
              <a:buAutoNum type="arabicPeriod" startAt="3"/>
            </a:pPr>
            <a:r>
              <a:rPr lang="en-US" sz="1600" dirty="0">
                <a:latin typeface="Aptos" panose="020B0004020202020204" pitchFamily="34" charset="0"/>
              </a:rPr>
              <a:t>O.S. Ci. Image super resolution: A comparison between interpolation &amp; deep learning-based techniques. </a:t>
            </a:r>
            <a:r>
              <a:rPr lang="en-US" sz="1600" dirty="0">
                <a:latin typeface="Aptos" panose="020B0004020202020204" pitchFamily="34" charset="0"/>
                <a:hlinkClick r:id="rId8"/>
              </a:rPr>
              <a:t>https://shorturl.at/ucUMU</a:t>
            </a:r>
            <a:endParaRPr lang="en-US" sz="1600" dirty="0">
              <a:latin typeface="Aptos" panose="020B0004020202020204" pitchFamily="34" charset="0"/>
            </a:endParaRPr>
          </a:p>
          <a:p>
            <a:pPr marL="342900" indent="-342900">
              <a:buFont typeface="+mj-lt"/>
              <a:buAutoNum type="arabicPeriod" startAt="3"/>
            </a:pPr>
            <a:endParaRPr lang="en-US" sz="1600" dirty="0">
              <a:latin typeface="Aptos" panose="020B0004020202020204" pitchFamily="34" charset="0"/>
            </a:endParaRPr>
          </a:p>
          <a:p>
            <a:pPr marL="342900" indent="-342900">
              <a:buFont typeface="+mj-lt"/>
              <a:buAutoNum type="arabicPeriod" startAt="3"/>
            </a:pPr>
            <a:endParaRPr lang="en-US" sz="1600" dirty="0">
              <a:latin typeface="Aptos" panose="020B0004020202020204" pitchFamily="34" charset="0"/>
            </a:endParaRPr>
          </a:p>
          <a:p>
            <a:pPr marL="342900" indent="-342900">
              <a:buFont typeface="+mj-lt"/>
              <a:buAutoNum type="arabicPeriod" startAt="3"/>
            </a:pPr>
            <a:endParaRPr lang="en-US" sz="1600" dirty="0">
              <a:latin typeface="Aptos" panose="020B0004020202020204" pitchFamily="34" charset="0"/>
            </a:endParaRPr>
          </a:p>
          <a:p>
            <a:pPr marL="342900" indent="-342900">
              <a:buFont typeface="+mj-lt"/>
              <a:buAutoNum type="arabicPeriod" startAt="3"/>
            </a:pPr>
            <a:endParaRPr lang="el-GR" sz="1600" dirty="0">
              <a:latin typeface="Aptos" panose="020B0004020202020204" pitchFamily="34" charset="0"/>
            </a:endParaRPr>
          </a:p>
        </p:txBody>
      </p:sp>
      <p:sp>
        <p:nvSpPr>
          <p:cNvPr id="4" name="TextBox 3">
            <a:extLst>
              <a:ext uri="{FF2B5EF4-FFF2-40B4-BE49-F238E27FC236}">
                <a16:creationId xmlns:a16="http://schemas.microsoft.com/office/drawing/2014/main" id="{7051F990-2678-937C-9014-D4040D9B62E1}"/>
              </a:ext>
            </a:extLst>
          </p:cNvPr>
          <p:cNvSpPr txBox="1"/>
          <p:nvPr/>
        </p:nvSpPr>
        <p:spPr>
          <a:xfrm>
            <a:off x="4811485" y="5377543"/>
            <a:ext cx="3004458" cy="461665"/>
          </a:xfrm>
          <a:prstGeom prst="rect">
            <a:avLst/>
          </a:prstGeom>
          <a:noFill/>
        </p:spPr>
        <p:txBody>
          <a:bodyPr wrap="square" rtlCol="0">
            <a:spAutoFit/>
          </a:bodyPr>
          <a:lstStyle/>
          <a:p>
            <a:r>
              <a:rPr lang="en-US" sz="2400" b="1" dirty="0">
                <a:solidFill>
                  <a:srgbClr val="2F99B4"/>
                </a:solidFill>
                <a:latin typeface="Aptos" panose="020B0004020202020204" pitchFamily="34" charset="0"/>
                <a:hlinkClick r:id="rId9">
                  <a:extLst>
                    <a:ext uri="{A12FA001-AC4F-418D-AE19-62706E023703}">
                      <ahyp:hlinkClr xmlns:ahyp="http://schemas.microsoft.com/office/drawing/2018/hyperlinkcolor" val="tx"/>
                    </a:ext>
                  </a:extLst>
                </a:hlinkClick>
              </a:rPr>
              <a:t>GitHub Repository</a:t>
            </a:r>
            <a:endParaRPr lang="el-GR" sz="2400" b="1" dirty="0">
              <a:solidFill>
                <a:srgbClr val="2F99B4"/>
              </a:solidFill>
              <a:latin typeface="Aptos" panose="020B0004020202020204" pitchFamily="34" charset="0"/>
            </a:endParaRPr>
          </a:p>
        </p:txBody>
      </p:sp>
    </p:spTree>
    <p:extLst>
      <p:ext uri="{BB962C8B-B14F-4D97-AF65-F5344CB8AC3E}">
        <p14:creationId xmlns:p14="http://schemas.microsoft.com/office/powerpoint/2010/main" val="839295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F99B4"/>
        </a:solidFill>
        <a:effectLst/>
      </p:bgPr>
    </p:bg>
    <p:spTree>
      <p:nvGrpSpPr>
        <p:cNvPr id="1" name="">
          <a:extLst>
            <a:ext uri="{FF2B5EF4-FFF2-40B4-BE49-F238E27FC236}">
              <a16:creationId xmlns:a16="http://schemas.microsoft.com/office/drawing/2014/main" id="{EFA1023D-4EDE-B86A-350D-6F87273BA3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E41DB4-E21B-BD02-0A60-9C24AB3DC3A9}"/>
              </a:ext>
            </a:extLst>
          </p:cNvPr>
          <p:cNvSpPr txBox="1"/>
          <p:nvPr/>
        </p:nvSpPr>
        <p:spPr>
          <a:xfrm>
            <a:off x="4408714" y="653143"/>
            <a:ext cx="4876800" cy="907941"/>
          </a:xfrm>
          <a:prstGeom prst="rect">
            <a:avLst/>
          </a:prstGeom>
          <a:noFill/>
        </p:spPr>
        <p:txBody>
          <a:bodyPr wrap="square" rtlCol="0">
            <a:spAutoFit/>
          </a:bodyPr>
          <a:lstStyle/>
          <a:p>
            <a:r>
              <a:rPr lang="en-US" sz="5300" b="1" dirty="0">
                <a:solidFill>
                  <a:schemeClr val="bg1"/>
                </a:solidFill>
                <a:latin typeface="Century Gothic" panose="020B0502020202020204" pitchFamily="34" charset="0"/>
              </a:rPr>
              <a:t>Thank you</a:t>
            </a:r>
            <a:endParaRPr lang="el-GR" sz="5300" b="1" dirty="0">
              <a:solidFill>
                <a:schemeClr val="bg1"/>
              </a:solidFill>
              <a:latin typeface="Century Gothic" panose="020B0502020202020204" pitchFamily="34" charset="0"/>
            </a:endParaRPr>
          </a:p>
        </p:txBody>
      </p:sp>
      <p:pic>
        <p:nvPicPr>
          <p:cNvPr id="13" name="Εικόνα 12" descr="Εικόνα που περιέχει κείμενο, clipart, εικονογράφηση, καρτούν&#10;&#10;Το περιεχόμενο που δημιουργείται από AI ενδέχεται να είναι εσφαλμένο.">
            <a:extLst>
              <a:ext uri="{FF2B5EF4-FFF2-40B4-BE49-F238E27FC236}">
                <a16:creationId xmlns:a16="http://schemas.microsoft.com/office/drawing/2014/main" id="{4925E14F-D100-1E8B-92F6-56335FB2E7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4570" y="2214226"/>
            <a:ext cx="4201887" cy="4201887"/>
          </a:xfrm>
          <a:prstGeom prst="rect">
            <a:avLst/>
          </a:prstGeom>
        </p:spPr>
      </p:pic>
      <p:sp>
        <p:nvSpPr>
          <p:cNvPr id="17" name="TextBox 16">
            <a:extLst>
              <a:ext uri="{FF2B5EF4-FFF2-40B4-BE49-F238E27FC236}">
                <a16:creationId xmlns:a16="http://schemas.microsoft.com/office/drawing/2014/main" id="{1B695B44-4B6E-BBAC-5DB4-5A65135358C9}"/>
              </a:ext>
            </a:extLst>
          </p:cNvPr>
          <p:cNvSpPr txBox="1"/>
          <p:nvPr/>
        </p:nvSpPr>
        <p:spPr>
          <a:xfrm>
            <a:off x="674915" y="3407229"/>
            <a:ext cx="6411685" cy="907941"/>
          </a:xfrm>
          <a:prstGeom prst="rect">
            <a:avLst/>
          </a:prstGeom>
          <a:noFill/>
        </p:spPr>
        <p:txBody>
          <a:bodyPr wrap="square" rtlCol="0">
            <a:spAutoFit/>
          </a:bodyPr>
          <a:lstStyle/>
          <a:p>
            <a:r>
              <a:rPr lang="en-US" sz="5300" b="1" dirty="0">
                <a:solidFill>
                  <a:schemeClr val="bg1"/>
                </a:solidFill>
                <a:latin typeface="Century Gothic" panose="020B0502020202020204" pitchFamily="34" charset="0"/>
              </a:rPr>
              <a:t>Any questions?</a:t>
            </a:r>
            <a:endParaRPr lang="el-GR" sz="53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798564251"/>
      </p:ext>
    </p:extLst>
  </p:cSld>
  <p:clrMapOvr>
    <a:masterClrMapping/>
  </p:clrMapOvr>
</p:sld>
</file>

<file path=ppt/theme/theme1.xml><?xml version="1.0" encoding="utf-8"?>
<a:theme xmlns:a="http://schemas.openxmlformats.org/drawingml/2006/main" name="Θέμα Office 2013 - 2022">
  <a:themeElements>
    <a:clrScheme name="Θέμα 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Θέμα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Θέμα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2777</TotalTime>
  <Words>2025</Words>
  <Application>Microsoft Office PowerPoint</Application>
  <PresentationFormat>Ευρεία οθόνη</PresentationFormat>
  <Paragraphs>297</Paragraphs>
  <Slides>25</Slides>
  <Notes>25</Notes>
  <HiddenSlides>0</HiddenSlides>
  <MMClips>0</MMClips>
  <ScaleCrop>false</ScaleCrop>
  <HeadingPairs>
    <vt:vector size="6" baseType="variant">
      <vt:variant>
        <vt:lpstr>Γραμματοσειρές που χρησιμοποιούνται</vt:lpstr>
      </vt:variant>
      <vt:variant>
        <vt:i4>5</vt:i4>
      </vt:variant>
      <vt:variant>
        <vt:lpstr>Θέμα</vt:lpstr>
      </vt:variant>
      <vt:variant>
        <vt:i4>1</vt:i4>
      </vt:variant>
      <vt:variant>
        <vt:lpstr>Τίτλοι διαφανειών</vt:lpstr>
      </vt:variant>
      <vt:variant>
        <vt:i4>25</vt:i4>
      </vt:variant>
    </vt:vector>
  </HeadingPairs>
  <TitlesOfParts>
    <vt:vector size="31" baseType="lpstr">
      <vt:lpstr>Aptos</vt:lpstr>
      <vt:lpstr>Arial</vt:lpstr>
      <vt:lpstr>Calibri</vt:lpstr>
      <vt:lpstr>Calibri Light</vt:lpstr>
      <vt:lpstr>Century Gothic</vt:lpstr>
      <vt:lpstr>Θέμα Office 2013 - 2022</vt:lpstr>
      <vt:lpstr>Use of Deep Learning methods and land cover/use data to improve the spatial resolution of Numerical Weather Prediction (NWP) simulations</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Αντιγόνη Μοίρα</dc:creator>
  <cp:lastModifiedBy>Αντιγόνη Μοίρα</cp:lastModifiedBy>
  <cp:revision>106</cp:revision>
  <dcterms:created xsi:type="dcterms:W3CDTF">2025-07-24T15:30:37Z</dcterms:created>
  <dcterms:modified xsi:type="dcterms:W3CDTF">2025-10-01T08:16:07Z</dcterms:modified>
</cp:coreProperties>
</file>